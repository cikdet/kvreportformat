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2" r:id="rId1"/>
  </p:sldMasterIdLst>
  <p:notesMasterIdLst>
    <p:notesMasterId r:id="rId30"/>
  </p:notesMasterIdLst>
  <p:sldIdLst>
    <p:sldId id="276" r:id="rId2"/>
    <p:sldId id="344" r:id="rId3"/>
    <p:sldId id="345" r:id="rId4"/>
    <p:sldId id="346" r:id="rId5"/>
    <p:sldId id="264" r:id="rId6"/>
    <p:sldId id="342" r:id="rId7"/>
    <p:sldId id="259" r:id="rId8"/>
    <p:sldId id="260" r:id="rId9"/>
    <p:sldId id="353" r:id="rId10"/>
    <p:sldId id="348" r:id="rId11"/>
    <p:sldId id="349" r:id="rId12"/>
    <p:sldId id="261" r:id="rId13"/>
    <p:sldId id="343" r:id="rId14"/>
    <p:sldId id="351" r:id="rId15"/>
    <p:sldId id="352" r:id="rId16"/>
    <p:sldId id="267" r:id="rId17"/>
    <p:sldId id="266" r:id="rId18"/>
    <p:sldId id="268" r:id="rId19"/>
    <p:sldId id="269" r:id="rId20"/>
    <p:sldId id="270" r:id="rId21"/>
    <p:sldId id="271" r:id="rId22"/>
    <p:sldId id="272" r:id="rId23"/>
    <p:sldId id="262" r:id="rId24"/>
    <p:sldId id="347" r:id="rId25"/>
    <p:sldId id="274" r:id="rId26"/>
    <p:sldId id="273" r:id="rId27"/>
    <p:sldId id="275" r:id="rId28"/>
    <p:sldId id="350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46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BA58E-A761-43A6-A560-8F49DDD8907E}" type="datetimeFigureOut">
              <a:rPr lang="en-MY" smtClean="0"/>
              <a:t>23/9/2026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DA18D0-2719-4195-9FE5-5AFA5E6E042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9794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 b="1" dirty="0"/>
              <a:t>Script:</a:t>
            </a:r>
            <a:br>
              <a:rPr lang="en-MY" dirty="0"/>
            </a:br>
            <a:r>
              <a:rPr lang="en-MY" dirty="0"/>
              <a:t>Good morning and thank you to the panel members, Assoc. Professor Dr. Mohd Razali and Assoc. Prof Dr Mohd </a:t>
            </a:r>
            <a:r>
              <a:rPr lang="en-MY" dirty="0" err="1"/>
              <a:t>Norzali</a:t>
            </a:r>
            <a:r>
              <a:rPr lang="en-MY" dirty="0"/>
              <a:t>.</a:t>
            </a:r>
            <a:br>
              <a:rPr lang="en-MY" dirty="0"/>
            </a:br>
            <a:r>
              <a:rPr lang="en-MY" dirty="0"/>
              <a:t>My name is </a:t>
            </a:r>
            <a:r>
              <a:rPr lang="en-MY" b="1" dirty="0" err="1"/>
              <a:t>Mahdzir</a:t>
            </a:r>
            <a:r>
              <a:rPr lang="en-MY" b="1" dirty="0"/>
              <a:t> </a:t>
            </a:r>
            <a:r>
              <a:rPr lang="en-MY" b="1" dirty="0" err="1"/>
              <a:t>Jamia’an</a:t>
            </a:r>
            <a:r>
              <a:rPr lang="en-MY" dirty="0"/>
              <a:t>, from FKEE under the program of PEE under the supervision of Prof. Dr. Soon Chin </a:t>
            </a:r>
            <a:r>
              <a:rPr lang="en-MY" dirty="0" err="1"/>
              <a:t>Fhong</a:t>
            </a:r>
            <a:r>
              <a:rPr lang="en-MY" dirty="0"/>
              <a:t> and Co-SV, Assoc. Prof Dr Chia Kim Seng.</a:t>
            </a:r>
          </a:p>
          <a:p>
            <a:r>
              <a:rPr lang="en-MY" dirty="0"/>
              <a:t> I am pleased to present my research proposal with the title of </a:t>
            </a:r>
            <a:r>
              <a:rPr lang="en-MY" i="1" dirty="0"/>
              <a:t>“Novel Anomaly Detection and Growth Phase Forecasting in Microalgae Cultivation Using IoT Sensor and Edge-Deployed LSTM Autoencoder and Isolation Forest Models.”</a:t>
            </a:r>
            <a:endParaRPr lang="en-MY" dirty="0"/>
          </a:p>
          <a:p>
            <a:r>
              <a:rPr lang="en-MY" dirty="0"/>
              <a:t>In simple terms, my research combines </a:t>
            </a:r>
            <a:r>
              <a:rPr lang="en-MY" b="1" dirty="0"/>
              <a:t>IoT technology</a:t>
            </a:r>
            <a:r>
              <a:rPr lang="en-MY" dirty="0"/>
              <a:t>, </a:t>
            </a:r>
            <a:r>
              <a:rPr lang="en-MY" b="1" dirty="0"/>
              <a:t>real-time data collection</a:t>
            </a:r>
            <a:r>
              <a:rPr lang="en-MY" dirty="0"/>
              <a:t>, and </a:t>
            </a:r>
            <a:r>
              <a:rPr lang="en-MY" b="1" dirty="0"/>
              <a:t>machine learning algorithms</a:t>
            </a:r>
            <a:r>
              <a:rPr lang="en-MY" dirty="0"/>
              <a:t> to improve how we monitor and manage microalgae cultivation.</a:t>
            </a:r>
            <a:br>
              <a:rPr lang="en-MY" dirty="0"/>
            </a:br>
            <a:r>
              <a:rPr lang="en-MY" dirty="0"/>
              <a:t>This work aims to create a smarter, more efficient, and sustainable way to produce microalgae, which has growing importance in the bioeconomy sector.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EDF214-83EE-4EBF-AA62-F994A20833A6}" type="slidenum">
              <a:rPr kumimoji="0" lang="en-MY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MY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315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805CA4-B0B2-06A6-6418-B382C7B6D0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4" y="0"/>
            <a:ext cx="12181970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8579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96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085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85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594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003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062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43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699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240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971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425043E-EED9-49E3-A00E-BADACD1356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4" y="0"/>
            <a:ext cx="12181970" cy="685799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682" y="1122363"/>
            <a:ext cx="6665154" cy="2387600"/>
          </a:xfrm>
        </p:spPr>
        <p:txBody>
          <a:bodyPr anchor="b"/>
          <a:lstStyle>
            <a:lvl1pPr algn="l">
              <a:defRPr sz="60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6682" y="3645374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129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8C0A0A-DCB2-1DD8-754B-7D455D71F87C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5" y="0"/>
            <a:ext cx="12181968" cy="6857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37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774" r:id="rId2"/>
    <p:sldLayoutId id="2147483775" r:id="rId3"/>
    <p:sldLayoutId id="2147483776" r:id="rId4"/>
    <p:sldLayoutId id="2147483777" r:id="rId5"/>
    <p:sldLayoutId id="2147483778" r:id="rId6"/>
    <p:sldLayoutId id="2147483779" r:id="rId7"/>
    <p:sldLayoutId id="2147483780" r:id="rId8"/>
    <p:sldLayoutId id="2147483781" r:id="rId9"/>
    <p:sldLayoutId id="2147483782" r:id="rId10"/>
    <p:sldLayoutId id="2147483783" r:id="rId11"/>
    <p:sldLayoutId id="21474837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2177086" y="4230940"/>
            <a:ext cx="7472752" cy="1655762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Oleh: </a:t>
            </a:r>
          </a:p>
          <a:p>
            <a:pPr marL="0" indent="0" algn="l">
              <a:buNone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Ts. M</a:t>
            </a:r>
            <a:r>
              <a:rPr lang="en-US" b="1" dirty="0"/>
              <a:t>AHDZIR BIN JAMIAAN 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Senior Lecture (DH13) </a:t>
            </a:r>
            <a:r>
              <a:rPr lang="en-US" sz="2000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PolyCC</a:t>
            </a:r>
            <a:endParaRPr lang="en-US" sz="2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Postgraduate UTHM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solidFill>
                  <a:prstClr val="black"/>
                </a:solidFill>
              </a:rPr>
              <a:t>Mint-SRC / FKEE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solidFill>
                  <a:prstClr val="black"/>
                </a:solidFill>
              </a:rPr>
              <a:t>Universiti Tun Hussein Onn Malaysia (UTHM)</a:t>
            </a:r>
          </a:p>
          <a:p>
            <a:pPr marL="0" indent="0" algn="l">
              <a:buNone/>
            </a:pPr>
            <a:endParaRPr lang="en-US" sz="2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F0C24-8EFF-4D5B-FECE-87736460D477}"/>
              </a:ext>
            </a:extLst>
          </p:cNvPr>
          <p:cNvSpPr txBox="1"/>
          <p:nvPr/>
        </p:nvSpPr>
        <p:spPr>
          <a:xfrm>
            <a:off x="1024428" y="915599"/>
            <a:ext cx="103327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F37"/>
                </a:solidFill>
                <a:latin typeface="Georgia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PANDUAN PENULISAN LAPORAN P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ROJEK 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T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AHUN 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KHIR (PTA)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algn="ctr">
              <a:spcBef>
                <a:spcPts val="1200"/>
              </a:spcBef>
              <a:defRPr sz="2400" b="0">
                <a:solidFill>
                  <a:srgbClr val="FFFFFF"/>
                </a:solidFill>
                <a:latin typeface="Georgia"/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Garis Panduan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Projek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Tahun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Akhir Kolej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Vokasional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(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Edisi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2023)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0F41F6-5DAB-2E36-5810-8C9A1C12E9DD}"/>
              </a:ext>
            </a:extLst>
          </p:cNvPr>
          <p:cNvSpPr txBox="1"/>
          <p:nvPr/>
        </p:nvSpPr>
        <p:spPr>
          <a:xfrm>
            <a:off x="291830" y="2876723"/>
            <a:ext cx="11682919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rPr sz="2400" dirty="0">
                <a:solidFill>
                  <a:srgbClr val="FF0000"/>
                </a:solidFill>
              </a:rPr>
              <a:t>Sesi </a:t>
            </a:r>
            <a:r>
              <a:rPr sz="2400" dirty="0" err="1">
                <a:solidFill>
                  <a:srgbClr val="FF0000"/>
                </a:solidFill>
              </a:rPr>
              <a:t>Perkongsian</a:t>
            </a:r>
            <a:r>
              <a:rPr sz="2400" dirty="0">
                <a:solidFill>
                  <a:srgbClr val="FF0000"/>
                </a:solidFill>
              </a:rPr>
              <a:t> Format </a:t>
            </a:r>
            <a:r>
              <a:rPr sz="2400" dirty="0" err="1">
                <a:solidFill>
                  <a:srgbClr val="FF0000"/>
                </a:solidFill>
              </a:rPr>
              <a:t>Laporan</a:t>
            </a:r>
            <a:r>
              <a:rPr sz="2400" dirty="0">
                <a:solidFill>
                  <a:srgbClr val="FF0000"/>
                </a:solidFill>
              </a:rPr>
              <a:t> Akhir &amp; </a:t>
            </a:r>
            <a:r>
              <a:rPr sz="2400" dirty="0" err="1">
                <a:solidFill>
                  <a:srgbClr val="FF0000"/>
                </a:solidFill>
              </a:rPr>
              <a:t>Syarat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Kelulusan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Graduasi</a:t>
            </a:r>
            <a:endParaRPr sz="2400" dirty="0">
              <a:solidFill>
                <a:srgbClr val="FF0000"/>
              </a:solidFill>
            </a:endParaRPr>
          </a:p>
          <a:p>
            <a:pPr algn="ctr">
              <a:spcBef>
                <a:spcPts val="600"/>
              </a:spcBef>
              <a:defRPr sz="1400">
                <a:solidFill>
                  <a:srgbClr val="D4AF37"/>
                </a:solidFill>
                <a:latin typeface="Arial"/>
              </a:defRPr>
            </a:pPr>
            <a:r>
              <a:rPr sz="2400" dirty="0" err="1">
                <a:solidFill>
                  <a:srgbClr val="FF0000"/>
                </a:solidFill>
              </a:rPr>
              <a:t>Untuk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Pelajar</a:t>
            </a:r>
            <a:r>
              <a:rPr sz="2400" dirty="0">
                <a:solidFill>
                  <a:srgbClr val="FF0000"/>
                </a:solidFill>
              </a:rPr>
              <a:t> Diploma </a:t>
            </a:r>
            <a:r>
              <a:rPr sz="2400" dirty="0" err="1">
                <a:solidFill>
                  <a:srgbClr val="FF0000"/>
                </a:solidFill>
              </a:rPr>
              <a:t>Vokasional</a:t>
            </a:r>
            <a:r>
              <a:rPr sz="2400" dirty="0">
                <a:solidFill>
                  <a:srgbClr val="FF0000"/>
                </a:solidFill>
              </a:rPr>
              <a:t> Malaysia (DVM)  </a:t>
            </a:r>
            <a:endParaRPr lang="en-MY" sz="2400" dirty="0">
              <a:solidFill>
                <a:srgbClr val="FF0000"/>
              </a:solidFill>
            </a:endParaRPr>
          </a:p>
          <a:p>
            <a:pPr algn="ctr">
              <a:spcBef>
                <a:spcPts val="600"/>
              </a:spcBef>
              <a:defRPr sz="1400">
                <a:solidFill>
                  <a:srgbClr val="D4AF37"/>
                </a:solidFill>
                <a:latin typeface="Arial"/>
              </a:defRPr>
            </a:pPr>
            <a:r>
              <a:rPr sz="2400" dirty="0">
                <a:solidFill>
                  <a:srgbClr val="FF0000"/>
                </a:solidFill>
              </a:rPr>
              <a:t>Kementerian Pendidikan Malaysia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73319F-BF99-03E6-6E66-BE755CCF4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22" y="4044581"/>
            <a:ext cx="1546872" cy="232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403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5C53C2-F3C7-309C-4C15-CC79EF6513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1" y="1181527"/>
            <a:ext cx="10151532" cy="51754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CDED14-2513-6CE0-97C8-012ACFADD9CF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Teacher’s Profile</a:t>
            </a:r>
            <a:endParaRPr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BE7A2B-56B1-106F-3961-BEB94ED71F3F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966684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269CE-5B60-8D4D-AE07-B2DF85D3A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F50C5B1-18D8-5A8B-F263-3ECFA30A3061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Teacher’s Profile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36FF67-9AE9-6396-892D-9BD09DC39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67" y="1326651"/>
            <a:ext cx="10173547" cy="481289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D495505-BAB1-8773-9D1B-C8BE44A1C289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504511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CBEBD-143C-05A5-0E54-85B7F65B4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250512-7607-7D67-A0F1-1213E660F11F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Teacher’s Profile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0BAAA7-F661-DFA1-EEE3-58D14C455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0644"/>
            <a:ext cx="6709204" cy="22232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04C66A-ADF7-A32C-9845-5DFE913AB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84884"/>
            <a:ext cx="6709204" cy="298287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78F5BC2-83B5-9C3A-9AB4-D5BDDE8C5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553" y="1715028"/>
            <a:ext cx="6762447" cy="17790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59039A4-EFA0-C39F-AFFE-7730BF3805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47" y="4068485"/>
            <a:ext cx="6287984" cy="259945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A317890-0D22-9BE3-81F8-50386717805A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56159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Pentaksiran</a:t>
            </a:r>
            <a:r>
              <a:rPr lang="en-MY" dirty="0"/>
              <a:t> / </a:t>
            </a:r>
            <a:r>
              <a:rPr lang="en-MY" dirty="0" err="1"/>
              <a:t>Pemarkahan</a:t>
            </a:r>
            <a:r>
              <a:rPr lang="en-MY" dirty="0"/>
              <a:t> </a:t>
            </a:r>
            <a:r>
              <a:rPr lang="en-MY" dirty="0" err="1"/>
              <a:t>Projek</a:t>
            </a:r>
            <a:r>
              <a:rPr lang="en-MY" dirty="0"/>
              <a:t> </a:t>
            </a:r>
            <a:r>
              <a:rPr lang="en-MY" dirty="0" err="1"/>
              <a:t>Tahun</a:t>
            </a:r>
            <a:r>
              <a:rPr lang="en-MY" dirty="0"/>
              <a:t> Akhir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868" y="140144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212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Agihan</a:t>
            </a:r>
            <a:r>
              <a:rPr dirty="0"/>
              <a:t> </a:t>
            </a:r>
            <a:r>
              <a:rPr dirty="0" err="1"/>
              <a:t>Markah</a:t>
            </a:r>
            <a:r>
              <a:rPr dirty="0"/>
              <a:t> </a:t>
            </a:r>
            <a:r>
              <a:rPr dirty="0" err="1"/>
              <a:t>Pentaksiran</a:t>
            </a:r>
            <a:r>
              <a:rPr dirty="0"/>
              <a:t> </a:t>
            </a:r>
            <a:r>
              <a:rPr dirty="0" err="1"/>
              <a:t>Berterusan</a:t>
            </a:r>
            <a:r>
              <a:rPr dirty="0"/>
              <a:t> </a:t>
            </a:r>
            <a:endParaRPr lang="en-MY" dirty="0"/>
          </a:p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(PB 100%)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254" y="2208106"/>
            <a:ext cx="5212079" cy="32675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B2A4A"/>
                </a:solidFill>
                <a:latin typeface="Arial"/>
              </a:defRPr>
            </a:pPr>
            <a:r>
              <a:rPr lang="fi-FI" sz="1400" dirty="0">
                <a:latin typeface="Georgia" panose="02040502050405020303" pitchFamily="18" charset="0"/>
              </a:rPr>
              <a:t>Skema Pemarkahan Projek Tahun Akhir 1 (PTA 1):</a:t>
            </a:r>
          </a:p>
          <a:p>
            <a:pPr>
              <a:spcAft>
                <a:spcPts val="800"/>
              </a:spcAft>
              <a:defRPr sz="1100" b="1">
                <a:solidFill>
                  <a:srgbClr val="1B2A4A"/>
                </a:solidFill>
                <a:latin typeface="Arial"/>
              </a:defRPr>
            </a:pPr>
            <a:r>
              <a:rPr sz="1600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600" dirty="0">
                <a:solidFill>
                  <a:srgbClr val="1B2A4A"/>
                </a:solidFill>
                <a:latin typeface="Georgia" panose="02040502050405020303" pitchFamily="18" charset="0"/>
              </a:rPr>
              <a:t> Cadangan: </a:t>
            </a:r>
            <a:r>
              <a:rPr sz="1600" dirty="0">
                <a:solidFill>
                  <a:srgbClr val="2A2D34"/>
                </a:solidFill>
                <a:latin typeface="Georgia" panose="02040502050405020303" pitchFamily="18" charset="0"/>
              </a:rPr>
              <a:t>60%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Pembentangan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Cadangan: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25%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Progres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&amp;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Penulisan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Bab 1-3: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10%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Buku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Log PTA 1: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5% </a:t>
            </a:r>
          </a:p>
          <a:p>
            <a:pPr>
              <a:spcBef>
                <a:spcPts val="800"/>
              </a:spcBef>
            </a:pPr>
            <a:endParaRPr sz="1400" dirty="0">
              <a:solidFill>
                <a:srgbClr val="2A2D34"/>
              </a:solidFill>
              <a:latin typeface="Georgia" panose="02040502050405020303" pitchFamily="18" charset="0"/>
            </a:endParaRPr>
          </a:p>
          <a:p>
            <a:pPr>
              <a:spcAft>
                <a:spcPts val="400"/>
              </a:spcAft>
              <a:defRPr sz="1200" b="1">
                <a:solidFill>
                  <a:srgbClr val="1B2A4A"/>
                </a:solidFill>
                <a:latin typeface="Georgia"/>
              </a:defRPr>
            </a:pPr>
            <a:r>
              <a:rPr sz="1400" dirty="0">
                <a:latin typeface="Georgia" panose="02040502050405020303" pitchFamily="18" charset="0"/>
              </a:rPr>
              <a:t>Skema </a:t>
            </a:r>
            <a:r>
              <a:rPr sz="1400" dirty="0" err="1">
                <a:latin typeface="Georgia" panose="02040502050405020303" pitchFamily="18" charset="0"/>
              </a:rPr>
              <a:t>Pemarkahan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Projek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Tahun</a:t>
            </a:r>
            <a:r>
              <a:rPr sz="1400" dirty="0">
                <a:latin typeface="Georgia" panose="02040502050405020303" pitchFamily="18" charset="0"/>
              </a:rPr>
              <a:t> Akhir 2 (PTA 2):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Penulisan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600" b="1" dirty="0">
                <a:solidFill>
                  <a:srgbClr val="2A2D34"/>
                </a:solidFill>
                <a:latin typeface="Georgia" panose="02040502050405020303" pitchFamily="18" charset="0"/>
              </a:rPr>
              <a:t>45%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Hasil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(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Produk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/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Perisian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/ Kajian):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30%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Pembentangan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Akhir: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20%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Buku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Log PTA 2: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5%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3319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39535" y="1502473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Syarat</a:t>
            </a:r>
            <a:r>
              <a:rPr dirty="0"/>
              <a:t> </a:t>
            </a:r>
            <a:r>
              <a:rPr dirty="0" err="1"/>
              <a:t>Kelulusan</a:t>
            </a:r>
            <a:r>
              <a:rPr dirty="0"/>
              <a:t> &amp; </a:t>
            </a:r>
            <a:r>
              <a:rPr dirty="0" err="1"/>
              <a:t>Graduasi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6430975" y="2208106"/>
            <a:ext cx="5120640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Kursus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Wajib Lulus: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PTA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merupakan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kursus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kurikulum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DVM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dipenuhi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tujuan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penganugerahan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diploma.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Markah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Kelulusan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Minima: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Calon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memperoleh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sekurang-kurangnya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40% (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Gred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D+ / Nilai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Gred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1.33)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daripada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markah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Lulus.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Keputusan Akhir: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Keputusan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muktamad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diklasifikasikan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sebagai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Terampil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(Lulus)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atau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Tidak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Terampil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Gagal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Peluang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Mengulang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GAGAL PTA 2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menduduki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ulangan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hanya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sekali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pada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tahun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semasa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441361-2EB8-4FCD-8B0A-A3F1E0868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04C61F-2A49-BAC7-3309-8996BFD45CCF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Akreditasi</a:t>
            </a:r>
            <a:r>
              <a:rPr lang="en-MY" dirty="0"/>
              <a:t> MQA &amp; MBOT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32B1F6-E5B6-25E9-FC7A-00FD2F58B7B5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C161D0-555F-727A-C811-A4CF8BA03C4B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A542A48-DE20-159A-B29B-2C7327F0CA43}"/>
              </a:ext>
            </a:extLst>
          </p:cNvPr>
          <p:cNvSpPr/>
          <p:nvPr/>
        </p:nvSpPr>
        <p:spPr>
          <a:xfrm>
            <a:off x="540868" y="140144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5EAFA-1FA9-5189-3082-6981C1B5381A}"/>
              </a:ext>
            </a:extLst>
          </p:cNvPr>
          <p:cNvSpPr txBox="1"/>
          <p:nvPr/>
        </p:nvSpPr>
        <p:spPr>
          <a:xfrm>
            <a:off x="624840" y="146304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lang="es-ES" dirty="0" err="1"/>
              <a:t>Pemetaan</a:t>
            </a:r>
            <a:r>
              <a:rPr lang="es-ES" dirty="0"/>
              <a:t> Hasil </a:t>
            </a:r>
            <a:r>
              <a:rPr lang="es-ES" dirty="0" err="1"/>
              <a:t>Pembelajaran</a:t>
            </a:r>
            <a:r>
              <a:rPr lang="es-ES" dirty="0"/>
              <a:t> (CLO &amp; PLO)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F6FB01-BFA1-525D-A787-A65250EB776F}"/>
              </a:ext>
            </a:extLst>
          </p:cNvPr>
          <p:cNvSpPr txBox="1"/>
          <p:nvPr/>
        </p:nvSpPr>
        <p:spPr>
          <a:xfrm>
            <a:off x="670254" y="2208106"/>
            <a:ext cx="5212079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1: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Kognitif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(C4, PLO3):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Menganalisis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teknologi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sedia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terdahulu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menjana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penyelesaian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munasabah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2: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Praktikal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(P5/P3, PLO2):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Membina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sistematik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menyusun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metodologi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mempamerkan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kemahiran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bidang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3: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Komunikasi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(A4/A2, PLO4):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Melaksanakan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pembentangan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proposal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hasil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akhir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berstruktur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serta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profesional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Matlamat</a:t>
            </a:r>
            <a:r>
              <a:rPr lang="en-MY"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Utama: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Melahirkan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tenaga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kerja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mahir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kompeten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kreatif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bersedia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menyumbang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industri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negara.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3711097-D906-6040-B3D2-4796235E067A}"/>
              </a:ext>
            </a:extLst>
          </p:cNvPr>
          <p:cNvSpPr/>
          <p:nvPr/>
        </p:nvSpPr>
        <p:spPr>
          <a:xfrm>
            <a:off x="6217920" y="143319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CE0756-EA09-6A58-4AC1-2C467533CA3E}"/>
              </a:ext>
            </a:extLst>
          </p:cNvPr>
          <p:cNvSpPr txBox="1"/>
          <p:nvPr/>
        </p:nvSpPr>
        <p:spPr>
          <a:xfrm>
            <a:off x="6355080" y="1461234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Kriteria</a:t>
            </a:r>
            <a:r>
              <a:rPr lang="en-MY" dirty="0"/>
              <a:t> </a:t>
            </a:r>
            <a:r>
              <a:rPr lang="en-MY" dirty="0" err="1"/>
              <a:t>Akreditasi</a:t>
            </a:r>
            <a:r>
              <a:rPr lang="en-MY" dirty="0"/>
              <a:t> </a:t>
            </a:r>
            <a:r>
              <a:rPr lang="en-MY" dirty="0" err="1"/>
              <a:t>Agensi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F8FD7F-7E55-94DF-A324-873F1377E5BA}"/>
              </a:ext>
            </a:extLst>
          </p:cNvPr>
          <p:cNvSpPr txBox="1"/>
          <p:nvPr/>
        </p:nvSpPr>
        <p:spPr>
          <a:xfrm>
            <a:off x="6430975" y="2208106"/>
            <a:ext cx="512064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Standard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Akreditasi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MQA: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dibina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dinilai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membuktikan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menguasai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Hasil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Pembelajaran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Program (PLO)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disyaratkan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Pensijilan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Teknologis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MBOT: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Menyokong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kelayakan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sebagai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Teknolog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Bersekutu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selepas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bergraduat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daripada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Kolej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Vokasional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Pengukuran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Domain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Bersepadu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Menilai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keupayaan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menyelesaikan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tugasan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melalui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pemetaan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domain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kognitif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psikomotor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afektif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Kriteria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Penting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Penilaian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Kebolehan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menganalisis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teori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mereka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baharu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mempraktikkan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keselamatan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bengkel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membentang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dengan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yakin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1087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(Report Content)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1: </a:t>
            </a:r>
            <a:r>
              <a:rPr dirty="0" err="1"/>
              <a:t>Pengenalan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291840" cy="351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Pengenalan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Gambaran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Latar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Belakang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Penerangan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bagaimana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idea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asal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tercetus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beserta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suasana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masalah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Pernyataan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Masalah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Keadaan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sebenar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dihadapi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mencetuskan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keperluan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Objektif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spesifik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ringkas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boleh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diukur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dicapai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Skop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Limitasi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dimensi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pengguna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had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keupayaan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2: Kajian </a:t>
            </a:r>
            <a:r>
              <a:rPr dirty="0" err="1"/>
              <a:t>Literatur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291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Ulasan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Kajian Lepas: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Huraian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kajian-kajian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terdahulu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berkait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dengan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pembolehubah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Asas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Pengetahuan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Mengulas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teori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konsep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hipotesis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maklumat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digunapakai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Justifikasi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Kepentingan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Menjelaskan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mengapa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dilaksanakan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berbanding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sedia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ada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Rujukan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Teks: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Memetik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sumber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ilmiah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secara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konsisten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mengikut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sistem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rujukan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APA.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3: </a:t>
            </a:r>
            <a:r>
              <a:rPr dirty="0" err="1"/>
              <a:t>Metodologi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8275320" y="2103120"/>
            <a:ext cx="329184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Konsep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Reka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Bentuk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Menerangkan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fungsi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2D/3D.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Proses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Pembuatan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Aliran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proses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kerja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(Carta Alir)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pengukuran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pembuatan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Anggaran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Kos: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buruh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utiliti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pengiraan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Perancangan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Carta Gantt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mingguan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membandingkan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vs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pelaksanaan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B2D67C-832C-DFFC-D068-6E230359CC2B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4: </a:t>
            </a:r>
            <a:r>
              <a:rPr dirty="0" err="1"/>
              <a:t>Dapatan</a:t>
            </a:r>
            <a:r>
              <a:rPr dirty="0"/>
              <a:t> &amp; </a:t>
            </a:r>
            <a:r>
              <a:rPr dirty="0" err="1"/>
              <a:t>Analisis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2918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Senarai</a:t>
            </a:r>
            <a:r>
              <a:rPr sz="1400" b="1" dirty="0">
                <a:solidFill>
                  <a:srgbClr val="1B2A4A"/>
                </a:solidFill>
              </a:rPr>
              <a:t> Alatan </a:t>
            </a:r>
            <a:r>
              <a:rPr sz="1400" b="1" dirty="0" err="1">
                <a:solidFill>
                  <a:srgbClr val="1B2A4A"/>
                </a:solidFill>
              </a:rPr>
              <a:t>Pengujian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Nyatakan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alatan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perkakasan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pengujian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dengan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terperinci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Kaedah</a:t>
            </a:r>
            <a:r>
              <a:rPr sz="1400" b="1" dirty="0">
                <a:solidFill>
                  <a:srgbClr val="1B2A4A"/>
                </a:solidFill>
              </a:rPr>
              <a:t> </a:t>
            </a:r>
            <a:r>
              <a:rPr sz="1400" b="1" dirty="0" err="1">
                <a:solidFill>
                  <a:srgbClr val="1B2A4A"/>
                </a:solidFill>
              </a:rPr>
              <a:t>Pengujian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Terangkan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prosedur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penentu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ukuran</a:t>
            </a:r>
            <a:r>
              <a:rPr sz="1400" dirty="0">
                <a:solidFill>
                  <a:srgbClr val="2A2D34"/>
                </a:solidFill>
              </a:rPr>
              <a:t> (calibration) dan parameter.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</a:rPr>
              <a:t>Langkah </a:t>
            </a:r>
            <a:r>
              <a:rPr sz="1400" b="1" dirty="0" err="1">
                <a:solidFill>
                  <a:srgbClr val="1B2A4A"/>
                </a:solidFill>
              </a:rPr>
              <a:t>Keselamatan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Prosedur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keselamatan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pencegahan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kemalangan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semasa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ujikaji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Dapatan</a:t>
            </a:r>
            <a:r>
              <a:rPr sz="1400" b="1" dirty="0">
                <a:solidFill>
                  <a:srgbClr val="1B2A4A"/>
                </a:solidFill>
              </a:rPr>
              <a:t> &amp; </a:t>
            </a:r>
            <a:r>
              <a:rPr sz="1400" b="1" dirty="0" err="1">
                <a:solidFill>
                  <a:srgbClr val="1B2A4A"/>
                </a:solidFill>
              </a:rPr>
              <a:t>Analisis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Pembentangan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keputusan</a:t>
            </a:r>
            <a:r>
              <a:rPr sz="1400" dirty="0">
                <a:solidFill>
                  <a:srgbClr val="2A2D34"/>
                </a:solidFill>
              </a:rPr>
              <a:t> (</a:t>
            </a:r>
            <a:r>
              <a:rPr sz="1400" dirty="0" err="1">
                <a:solidFill>
                  <a:srgbClr val="2A2D34"/>
                </a:solidFill>
              </a:rPr>
              <a:t>jadual</a:t>
            </a:r>
            <a:r>
              <a:rPr sz="1400" dirty="0">
                <a:solidFill>
                  <a:srgbClr val="2A2D34"/>
                </a:solidFill>
              </a:rPr>
              <a:t>, rajah, </a:t>
            </a:r>
            <a:r>
              <a:rPr sz="1400" dirty="0" err="1">
                <a:solidFill>
                  <a:srgbClr val="2A2D34"/>
                </a:solidFill>
              </a:rPr>
              <a:t>graf</a:t>
            </a:r>
            <a:r>
              <a:rPr sz="1400" dirty="0">
                <a:solidFill>
                  <a:srgbClr val="2A2D34"/>
                </a:solidFill>
              </a:rPr>
              <a:t>) </a:t>
            </a:r>
            <a:r>
              <a:rPr sz="1400" dirty="0" err="1">
                <a:solidFill>
                  <a:srgbClr val="2A2D34"/>
                </a:solidFill>
              </a:rPr>
              <a:t>selari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dengan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persoalan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kajian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Membaikpulih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>
                <a:solidFill>
                  <a:srgbClr val="2A2D34"/>
                </a:solidFill>
              </a:rPr>
              <a:t>Catat proses </a:t>
            </a:r>
            <a:r>
              <a:rPr sz="1400" dirty="0" err="1">
                <a:solidFill>
                  <a:srgbClr val="2A2D34"/>
                </a:solidFill>
              </a:rPr>
              <a:t>membaikpulih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pelan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penyelenggaraan</a:t>
            </a:r>
            <a:r>
              <a:rPr sz="1400" dirty="0">
                <a:solidFill>
                  <a:srgbClr val="2A2D34"/>
                </a:solidFill>
              </a:rPr>
              <a:t> yang </a:t>
            </a:r>
            <a:r>
              <a:rPr sz="1400" dirty="0" err="1">
                <a:solidFill>
                  <a:srgbClr val="2A2D34"/>
                </a:solidFill>
              </a:rPr>
              <a:t>dijalankan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2918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5: </a:t>
            </a:r>
            <a:r>
              <a:rPr dirty="0" err="1"/>
              <a:t>Perbincangan</a:t>
            </a:r>
            <a:r>
              <a:rPr lang="en-MY" dirty="0"/>
              <a:t>,</a:t>
            </a:r>
            <a:r>
              <a:rPr dirty="0"/>
              <a:t> Cadangan</a:t>
            </a:r>
            <a:r>
              <a:rPr lang="en-MY" dirty="0"/>
              <a:t> dan Kesimpulan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29184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Rumusan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Merumuskan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secara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menilai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pencapaian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objektif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Perbincangan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Hasil: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Sokongan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hujah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interpretasi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data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berbanding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hasil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lepas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Kelemahan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&amp;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Kelebihan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Mengenal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pasti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limitasi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kelebihan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dicipta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Syor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&amp; Cadangan: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Mengemukakan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syor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langkah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penambahbaikan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upgrade masa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hadapan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STRUKTUR: Abstrak Projek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03120"/>
            <a:ext cx="3291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Ringkasan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Padat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Satu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perenggan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ringkas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menggambarkan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laporan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PTA.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Panjang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Abstrak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Maksimum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300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patah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perkataan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dimuatkan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1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surat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Dua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Versi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Bahasa: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Wajib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disediakan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Bahasa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Melayu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diikuti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versi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Bahasa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Inggeris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(Abstract).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Kandungan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Wajib: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Mengandungi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latar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belakang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penyataan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masalah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metodologi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keputusan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kesimpulan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6D7DB0-354F-1FE8-A78A-26EFB7CB89ED}"/>
              </a:ext>
            </a:extLst>
          </p:cNvPr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(Report Content)</a:t>
            </a:r>
            <a:endParaRPr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FB00696-F528-EEAC-7202-E48F7874D794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DF593C-9216-409D-807A-7B34ACF0A70D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68151-0920-48DC-531F-FB7632A2A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D6E473-A6D3-D5B2-82B9-F446B8E5AA18}"/>
              </a:ext>
            </a:extLst>
          </p:cNvPr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</a:t>
            </a:r>
            <a:r>
              <a:rPr lang="en-MY" dirty="0" err="1"/>
              <a:t>Pengenalan</a:t>
            </a:r>
            <a:r>
              <a:rPr lang="en-MY" dirty="0"/>
              <a:t>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B0A035-08ED-04B4-0B29-A4471FC57075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588E8A4-FA37-2617-E2E7-DEE646F5B63E}"/>
              </a:ext>
            </a:extLst>
          </p:cNvPr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D187D9-7FAA-3D15-DFE5-5D6F8A00931D}"/>
              </a:ext>
            </a:extLst>
          </p:cNvPr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1: </a:t>
            </a:r>
            <a:r>
              <a:rPr dirty="0" err="1"/>
              <a:t>Pengenalan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822A6B-CFA5-FD35-4BF4-06D9F3D0DBFF}"/>
              </a:ext>
            </a:extLst>
          </p:cNvPr>
          <p:cNvSpPr txBox="1"/>
          <p:nvPr/>
        </p:nvSpPr>
        <p:spPr>
          <a:xfrm>
            <a:off x="594360" y="2103120"/>
            <a:ext cx="3291840" cy="351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Pengenalan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Gambaran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Latar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Belakang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Penerangan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bagaimana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idea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asal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tercetus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beserta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suasana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masalah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Pernyataan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Masalah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Keadaan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sebenar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dihadapi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mencetuskan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keperluan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Objektif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spesifik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ringkas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boleh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diukur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dicapai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Skop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Limitasi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dimensi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pengguna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had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keupayaan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1A5772-3520-CA88-2221-A7545BF0D7AE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C3FD8E5-2642-0640-D058-DA98CC73E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503" y="1005840"/>
            <a:ext cx="4875262" cy="55156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4F42F30-AABC-AE55-3C14-302B6C48424D}"/>
              </a:ext>
            </a:extLst>
          </p:cNvPr>
          <p:cNvSpPr txBox="1"/>
          <p:nvPr/>
        </p:nvSpPr>
        <p:spPr>
          <a:xfrm>
            <a:off x="9337765" y="5134902"/>
            <a:ext cx="276714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400" dirty="0"/>
              <a:t>Source:</a:t>
            </a:r>
          </a:p>
          <a:p>
            <a:r>
              <a:rPr lang="en-MY" sz="1400" dirty="0"/>
              <a:t>https://www.projectguru.in/how-to-emphasize-the-thesis-introduction-chapter-from-the-rest-of-the-chapters/</a:t>
            </a:r>
          </a:p>
        </p:txBody>
      </p:sp>
    </p:spTree>
    <p:extLst>
      <p:ext uri="{BB962C8B-B14F-4D97-AF65-F5344CB8AC3E}">
        <p14:creationId xmlns:p14="http://schemas.microsoft.com/office/powerpoint/2010/main" val="660134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6B83F3-F1B5-064D-6610-D213C6E9F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4E9E43-1B0D-6342-8F7B-3CEAFA3C9B7F}"/>
              </a:ext>
            </a:extLst>
          </p:cNvPr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(Kajian </a:t>
            </a:r>
            <a:r>
              <a:rPr lang="en-MY" dirty="0" err="1"/>
              <a:t>Literatur</a:t>
            </a:r>
            <a:r>
              <a:rPr lang="en-MY" dirty="0"/>
              <a:t>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44C6F0-40CA-F1A1-70DF-7AFAEBDF8827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C614054-932B-AB91-ED64-A56531C28215}"/>
              </a:ext>
            </a:extLst>
          </p:cNvPr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27236C-1229-08C2-E31A-0D4E39D4C761}"/>
              </a:ext>
            </a:extLst>
          </p:cNvPr>
          <p:cNvSpPr txBox="1"/>
          <p:nvPr/>
        </p:nvSpPr>
        <p:spPr>
          <a:xfrm>
            <a:off x="7315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BAB 2: Kajian Literatur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DE210E-512D-F188-6726-8E4427852B5F}"/>
              </a:ext>
            </a:extLst>
          </p:cNvPr>
          <p:cNvSpPr txBox="1"/>
          <p:nvPr/>
        </p:nvSpPr>
        <p:spPr>
          <a:xfrm>
            <a:off x="731520" y="2122144"/>
            <a:ext cx="3291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Ulasan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Kajian Lepas: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Huraian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kajian-kajian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terdahulu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berkait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dengan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pembolehubah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Asas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Pengetahuan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Mengulas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teori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konsep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hipotesis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maklumat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digunapakai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Justifikasi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Kepentingan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Menjelaskan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mengapa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dilaksanakan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berbanding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sedia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ada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Rujukan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Teks: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Memetik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sumber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ilmiah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secara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konsisten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mengikut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sistem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rujukan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APA.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BBAC057-175A-EEE1-A5AB-F2E72FF55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026" y="1149194"/>
            <a:ext cx="3852082" cy="483682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72D43A7-D365-CE63-DF7A-702411B285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094" y="1452371"/>
            <a:ext cx="3889111" cy="427278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E3C7443-2489-8280-EC58-58BB1CBB05D5}"/>
              </a:ext>
            </a:extLst>
          </p:cNvPr>
          <p:cNvSpPr txBox="1"/>
          <p:nvPr/>
        </p:nvSpPr>
        <p:spPr>
          <a:xfrm>
            <a:off x="8141453" y="5792053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https://www.evalcommunity.com/career-center/research-tools/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DB64A5-09D7-0443-F69E-FB490C16ED0A}"/>
              </a:ext>
            </a:extLst>
          </p:cNvPr>
          <p:cNvSpPr txBox="1"/>
          <p:nvPr/>
        </p:nvSpPr>
        <p:spPr>
          <a:xfrm>
            <a:off x="4935583" y="6027003"/>
            <a:ext cx="501831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https://www.facebook.com/askpstudyinaustralia/posts/here-is-a-list-of-simple-tools-you-can-use-for-your-next-literature-review-proje/716732600471608/</a:t>
            </a:r>
          </a:p>
        </p:txBody>
      </p:sp>
    </p:spTree>
    <p:extLst>
      <p:ext uri="{BB962C8B-B14F-4D97-AF65-F5344CB8AC3E}">
        <p14:creationId xmlns:p14="http://schemas.microsoft.com/office/powerpoint/2010/main" val="2665321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726605-FA3F-7A65-9296-FADB3A86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2B89B3-9FC2-978F-586A-863740613D5F}"/>
              </a:ext>
            </a:extLst>
          </p:cNvPr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</a:t>
            </a:r>
            <a:r>
              <a:rPr lang="en-MY" dirty="0" err="1"/>
              <a:t>Metodologi</a:t>
            </a:r>
            <a:r>
              <a:rPr lang="en-MY" dirty="0"/>
              <a:t>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C053DA-C26F-361C-7588-1FA35121F403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CB0BDE4-AD07-5299-C8CD-E9DB2CB063F3}"/>
              </a:ext>
            </a:extLst>
          </p:cNvPr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250324-3B87-05C2-5033-C1B920ADF787}"/>
              </a:ext>
            </a:extLst>
          </p:cNvPr>
          <p:cNvSpPr txBox="1"/>
          <p:nvPr/>
        </p:nvSpPr>
        <p:spPr>
          <a:xfrm>
            <a:off x="868680" y="149479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3: </a:t>
            </a:r>
            <a:r>
              <a:rPr dirty="0" err="1"/>
              <a:t>Metodologi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E9B55A-BB89-2AAA-FE0E-BD5C8054892C}"/>
              </a:ext>
            </a:extLst>
          </p:cNvPr>
          <p:cNvSpPr txBox="1"/>
          <p:nvPr/>
        </p:nvSpPr>
        <p:spPr>
          <a:xfrm>
            <a:off x="594360" y="2103120"/>
            <a:ext cx="329184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Konsep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Reka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Bentuk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Menerangkan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fungsi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2D/3D.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Proses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Pembuatan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Aliran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proses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kerja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(Carta Alir)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pengukuran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pembuatan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Anggaran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Kos: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buruh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utiliti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pengiraan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Perancangan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Carta Gantt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mingguan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membandingkan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vs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pelaksanaan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A91D7E7-EE98-7F19-6484-C5C14C484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069816"/>
            <a:ext cx="6040664" cy="503131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F4CB514-5B4C-FC9B-9865-5BD3A9A62617}"/>
              </a:ext>
            </a:extLst>
          </p:cNvPr>
          <p:cNvSpPr txBox="1"/>
          <p:nvPr/>
        </p:nvSpPr>
        <p:spPr>
          <a:xfrm>
            <a:off x="5190066" y="610599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https://www.globalassignmenthelp.com/uk/research-methods</a:t>
            </a:r>
          </a:p>
        </p:txBody>
      </p:sp>
    </p:spTree>
    <p:extLst>
      <p:ext uri="{BB962C8B-B14F-4D97-AF65-F5344CB8AC3E}">
        <p14:creationId xmlns:p14="http://schemas.microsoft.com/office/powerpoint/2010/main" val="3873637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Tetapan</a:t>
            </a:r>
            <a:r>
              <a:rPr dirty="0"/>
              <a:t> Ruang Tepi Muka Surat (Page Setup)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2482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Kiri (Left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4.0 cm (40mm)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memberi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ruang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jilid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(binding) agar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tidak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tenggelam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Atas (Top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Bawah (Bottom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Kanan (Right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Orientasi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Standard Portrait.</a:t>
            </a:r>
            <a:endParaRPr lang="en-MY" sz="1400" dirty="0">
              <a:solidFill>
                <a:srgbClr val="2A2D34"/>
              </a:solidFill>
              <a:latin typeface="Georgia" panose="02040502050405020303" pitchFamily="18" charset="0"/>
            </a:endParaRP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Pertukaran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ke Landscape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khusus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rajah/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jadual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besar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144907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Tipografi</a:t>
            </a:r>
            <a:r>
              <a:rPr dirty="0"/>
              <a:t> &amp; </a:t>
            </a:r>
            <a:r>
              <a:rPr dirty="0" err="1"/>
              <a:t>Tetapan</a:t>
            </a:r>
            <a:r>
              <a:rPr dirty="0"/>
              <a:t> Teks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120640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Jenis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Huruf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(Font Family):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tulisan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jenis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Arial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Saiz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Huruf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(Font Size):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Saiz 11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laporan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Jarak Baris (Line Spacing):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1.5 Spacing (Paragraph) [33, 66, 141].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Jadual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ilustrasi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single spacing.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Penjajaran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Teks (Alignment):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tetapan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Justify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kekemasan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Nombor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Muka Surat: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Diletakkan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di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bahagian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bawah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penjuru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sebelah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kanan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(Plain Number 3).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73521B-0924-011A-EF07-EA6C4AAD1E3A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8BAF2A-7E70-DC7B-F0F2-A8E361CA1B14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05840" y="173736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1174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MARGIN KIRI (RUANG JILID)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4.0 cm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Wajib </a:t>
            </a:r>
            <a:r>
              <a:rPr sz="1400" dirty="0" err="1">
                <a:latin typeface="Georgia" panose="02040502050405020303" pitchFamily="18" charset="0"/>
              </a:rPr>
              <a:t>untuk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ruang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penjilidan</a:t>
            </a:r>
            <a:r>
              <a:rPr sz="1400" dirty="0">
                <a:latin typeface="Georgia" panose="02040502050405020303" pitchFamily="18" charset="0"/>
              </a:rPr>
              <a:t> Hard Cover Biru Gelap</a:t>
            </a:r>
            <a:r>
              <a:rPr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0" y="173736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MARGIN ATAS, BAWAH, KANAN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2.5 cm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Standard </a:t>
            </a:r>
            <a:r>
              <a:rPr sz="1400" dirty="0" err="1">
                <a:latin typeface="Georgia" panose="02040502050405020303" pitchFamily="18" charset="0"/>
              </a:rPr>
              <a:t>jujukan</a:t>
            </a:r>
            <a:r>
              <a:rPr sz="1400" dirty="0">
                <a:latin typeface="Georgia" panose="02040502050405020303" pitchFamily="18" charset="0"/>
              </a:rPr>
              <a:t> margin </a:t>
            </a:r>
            <a:r>
              <a:rPr sz="1400" dirty="0" err="1">
                <a:latin typeface="Georgia" panose="02040502050405020303" pitchFamily="18" charset="0"/>
              </a:rPr>
              <a:t>halaman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akademik</a:t>
            </a:r>
            <a:r>
              <a:rPr sz="1400" dirty="0">
                <a:latin typeface="Georgia" panose="02040502050405020303" pitchFamily="18" charset="0"/>
              </a:rPr>
              <a:t> KPM</a:t>
            </a:r>
            <a:r>
              <a:rPr dirty="0"/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05840" y="420624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8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JENIS &amp; SAIZ TULISAN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Arial 11 pt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Tulisan </a:t>
            </a:r>
            <a:r>
              <a:rPr sz="1400" dirty="0" err="1">
                <a:latin typeface="Georgia" panose="02040502050405020303" pitchFamily="18" charset="0"/>
              </a:rPr>
              <a:t>rasmi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laporan</a:t>
            </a:r>
            <a:r>
              <a:rPr sz="1400" dirty="0">
                <a:latin typeface="Georgia" panose="02040502050405020303" pitchFamily="18" charset="0"/>
              </a:rPr>
              <a:t>. Langkau 1.5 spacing &amp; Justify.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83680" y="420624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29768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SPESIFIKASI KERTAS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A4 80 </a:t>
            </a:r>
            <a:r>
              <a:rPr sz="3200" dirty="0" err="1">
                <a:latin typeface="Georgia" panose="02040502050405020303" pitchFamily="18" charset="0"/>
              </a:rPr>
              <a:t>gsm</a:t>
            </a:r>
            <a:endParaRPr sz="3200" dirty="0">
              <a:latin typeface="Georgia" panose="02040502050405020303" pitchFamily="18" charset="0"/>
            </a:endParaRP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Warna </a:t>
            </a:r>
            <a:r>
              <a:rPr sz="1400" dirty="0" err="1">
                <a:latin typeface="Georgia" panose="02040502050405020303" pitchFamily="18" charset="0"/>
              </a:rPr>
              <a:t>putih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bersih</a:t>
            </a:r>
            <a:r>
              <a:rPr sz="1400" dirty="0">
                <a:latin typeface="Georgia" panose="02040502050405020303" pitchFamily="18" charset="0"/>
              </a:rPr>
              <a:t>, </a:t>
            </a:r>
            <a:r>
              <a:rPr sz="1400" dirty="0" err="1">
                <a:latin typeface="Georgia" panose="02040502050405020303" pitchFamily="18" charset="0"/>
              </a:rPr>
              <a:t>cetakan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sebelah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muka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surat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sahaja</a:t>
            </a:r>
            <a:r>
              <a:rPr dirty="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C9F9CE-21DE-5DD3-B177-5A69D0D5606A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1092A0-6137-D919-8DA7-9506414AFEBA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2259EF-6E43-DDEE-5CAA-62599F00DE70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Tetapan</a:t>
            </a:r>
            <a:r>
              <a:rPr lang="en-MY" dirty="0"/>
              <a:t> Asas </a:t>
            </a:r>
            <a:r>
              <a:rPr lang="en-MY" dirty="0" err="1"/>
              <a:t>Dokumen</a:t>
            </a:r>
            <a:r>
              <a:rPr lang="en-MY" dirty="0"/>
              <a:t> MS Word (Setup)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72F1767-CFB7-6B6B-0A38-BC63AB385FE8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16F6F6-94AA-89E2-F929-AA015504F282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Practical Session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6A4F20-5BB3-7232-83D2-45B9B559C6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617"/>
          <a:stretch>
            <a:fillRect/>
          </a:stretch>
        </p:blipFill>
        <p:spPr>
          <a:xfrm>
            <a:off x="3161631" y="1768272"/>
            <a:ext cx="5868737" cy="3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2098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89F36-70B9-1DB2-F9C0-2C695A561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11A84CC-50A0-F36E-74D0-99BB98717302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1AD24-65E3-2977-8761-0EC5D0EBE92E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Source (Github.com)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FA4E6D-99AA-77A9-5BBD-E103544D7A83}"/>
              </a:ext>
            </a:extLst>
          </p:cNvPr>
          <p:cNvSpPr txBox="1"/>
          <p:nvPr/>
        </p:nvSpPr>
        <p:spPr>
          <a:xfrm>
            <a:off x="457353" y="1218049"/>
            <a:ext cx="11277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>
                <a:latin typeface="Georgia" panose="02040502050405020303" pitchFamily="18" charset="0"/>
              </a:rPr>
              <a:t>https://github.com/cikdet/KVreportformat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6FD858-6E6C-CCF9-EC59-DD3C0909A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533" y="1904999"/>
            <a:ext cx="4605867" cy="460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5399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48D114F-9DE4-D149-4F7F-E120BB1C8302}"/>
              </a:ext>
            </a:extLst>
          </p:cNvPr>
          <p:cNvSpPr txBox="1"/>
          <p:nvPr/>
        </p:nvSpPr>
        <p:spPr>
          <a:xfrm>
            <a:off x="3208865" y="1647983"/>
            <a:ext cx="5494868" cy="2954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 dirty="0"/>
              <a:t>New Folder &lt;</a:t>
            </a:r>
            <a:r>
              <a:rPr lang="en-US" dirty="0" err="1"/>
              <a:t>dir</a:t>
            </a:r>
            <a:r>
              <a:rPr lang="en-US" dirty="0"/>
              <a:t>&gt;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US" dirty="0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 dirty="0"/>
              <a:t>Copy template &lt;Template KV Segamat_BM_V1.1_APA_Sept2026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lang="en-US" dirty="0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 dirty="0"/>
              <a:t>Save as &lt; your new file name&gt; on the same &lt;</a:t>
            </a:r>
            <a:r>
              <a:rPr lang="en-US" dirty="0" err="1"/>
              <a:t>dir</a:t>
            </a:r>
            <a:r>
              <a:rPr lang="en-US" dirty="0"/>
              <a:t>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96E225-407E-4744-EA4E-13A4FEEA6B0A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D95141-4849-DC68-BF95-FA7C22840B90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1495851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37949B1-6FDD-7D8D-02AD-7860E6D54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7" y="1437268"/>
            <a:ext cx="5216873" cy="472307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AE79BF-5BEC-D319-1533-EA290CFA8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504" y="1481455"/>
            <a:ext cx="5679206" cy="467889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DFF92E5-E4FC-3985-A996-6E615832ECCD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8C8B2E-B7D9-1A68-6604-1686039892CF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F28251-BBD5-AFD2-A4D6-75C3ECE0873F}"/>
              </a:ext>
            </a:extLst>
          </p:cNvPr>
          <p:cNvSpPr txBox="1"/>
          <p:nvPr/>
        </p:nvSpPr>
        <p:spPr>
          <a:xfrm>
            <a:off x="2716074" y="2875002"/>
            <a:ext cx="2599268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Microsoft </a:t>
            </a:r>
            <a:r>
              <a:rPr lang="en-MY" dirty="0" err="1"/>
              <a:t>Offce</a:t>
            </a:r>
            <a:br>
              <a:rPr lang="en-MY" dirty="0"/>
            </a:br>
            <a:r>
              <a:rPr lang="en-MY" dirty="0"/>
              <a:t>-File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-Option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0FDFA-92E3-E063-C6FE-C38280B30E79}"/>
              </a:ext>
            </a:extLst>
          </p:cNvPr>
          <p:cNvSpPr txBox="1"/>
          <p:nvPr/>
        </p:nvSpPr>
        <p:spPr>
          <a:xfrm>
            <a:off x="8558107" y="3442917"/>
            <a:ext cx="3177786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-Advanced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-Text boxes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-Text boundaries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-shading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586276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E3B7A-4D1D-4F34-6D70-D4335C59B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E42E352-9D70-B94D-EC8A-C52C78A5751B}"/>
              </a:ext>
            </a:extLst>
          </p:cNvPr>
          <p:cNvSpPr txBox="1"/>
          <p:nvPr/>
        </p:nvSpPr>
        <p:spPr>
          <a:xfrm>
            <a:off x="4379830" y="2961641"/>
            <a:ext cx="2948156" cy="1477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Quick access toolbar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-Show below the ribbon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EB9D08-981C-047A-6BC6-C7E824F51E4E}"/>
              </a:ext>
            </a:extLst>
          </p:cNvPr>
          <p:cNvSpPr txBox="1"/>
          <p:nvPr/>
        </p:nvSpPr>
        <p:spPr>
          <a:xfrm>
            <a:off x="7559942" y="817513"/>
            <a:ext cx="5679205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Customize Ribbon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-Developer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422FC3-A25B-4DD9-F9B8-79EB5FA8E9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34"/>
          <a:stretch>
            <a:fillRect/>
          </a:stretch>
        </p:blipFill>
        <p:spPr>
          <a:xfrm>
            <a:off x="152400" y="1447800"/>
            <a:ext cx="3995475" cy="501325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D5BA1C-2FDC-FCF1-1181-962BA7594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551" y="1247141"/>
            <a:ext cx="4138585" cy="3429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4075F8-09DB-B6CA-C2F4-3548D6ADB4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4652" b="26580"/>
          <a:stretch>
            <a:fillRect/>
          </a:stretch>
        </p:blipFill>
        <p:spPr>
          <a:xfrm>
            <a:off x="4893733" y="4913313"/>
            <a:ext cx="6966337" cy="169890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6C3E2FC-F7AB-E541-62CF-BF8965FC4A51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5171AB-F5AA-71EC-0779-29B558F91018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38542831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C159E-04FC-CDCD-4E25-7C6D5BB96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C5A124F-DD16-7805-B281-967D4F2242C3}"/>
              </a:ext>
            </a:extLst>
          </p:cNvPr>
          <p:cNvSpPr txBox="1"/>
          <p:nvPr/>
        </p:nvSpPr>
        <p:spPr>
          <a:xfrm>
            <a:off x="8822267" y="2541111"/>
            <a:ext cx="2523066" cy="1477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Quick access toolbar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-Add to quick access toolbar</a:t>
            </a:r>
            <a:endParaRPr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3C70A4-B6F7-1977-E03C-B380DECDA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199" y="1303866"/>
            <a:ext cx="4556469" cy="526944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0051EF-B075-16F2-F425-29F9D9E741D8}"/>
              </a:ext>
            </a:extLst>
          </p:cNvPr>
          <p:cNvSpPr txBox="1"/>
          <p:nvPr/>
        </p:nvSpPr>
        <p:spPr>
          <a:xfrm>
            <a:off x="-253867" y="1637109"/>
            <a:ext cx="4445000" cy="40626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-Document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-Styles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Print preview &amp; Print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Insert Caption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Cross-reference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Navigation pane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Open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Clear formatting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Draw text box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>
              <a:solidFill>
                <a:srgbClr val="FF0000"/>
              </a:solidFill>
            </a:endParaRP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dirty="0">
              <a:solidFill>
                <a:srgbClr val="FF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3C2BE5-091F-B88F-34BB-7A4763E11714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649F3F-2FD9-B3EC-19E9-BE5A00E06633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7357263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0D782-C49E-7177-5452-E09A0A64A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D8E77F-7EB3-72F1-C3F3-697B26FFD3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904"/>
          <a:stretch>
            <a:fillRect/>
          </a:stretch>
        </p:blipFill>
        <p:spPr>
          <a:xfrm>
            <a:off x="5479936" y="1474037"/>
            <a:ext cx="4885268" cy="494001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1D8C07-61B2-92FB-27C3-8B4B188E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67" y="1270536"/>
            <a:ext cx="4792134" cy="514351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830E7D7-C987-F384-DB7D-B9D87D1E1F64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E45B7-4002-0AB3-B28A-67B4FC87290E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F984DB-0633-050E-DAB2-F71E05A8ADAA}"/>
              </a:ext>
            </a:extLst>
          </p:cNvPr>
          <p:cNvSpPr txBox="1"/>
          <p:nvPr/>
        </p:nvSpPr>
        <p:spPr>
          <a:xfrm>
            <a:off x="8475133" y="4630513"/>
            <a:ext cx="2573867" cy="9848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Margin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Top : 2.5cm, Botton : 2.5cm,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Left: 4cm, Right: 2.5cm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834453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B739C-DCE5-843D-985A-39D30CA6C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D034FEA-EBA2-2E66-8740-D99D10918062}"/>
              </a:ext>
            </a:extLst>
          </p:cNvPr>
          <p:cNvSpPr txBox="1"/>
          <p:nvPr/>
        </p:nvSpPr>
        <p:spPr>
          <a:xfrm>
            <a:off x="457200" y="2113425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-Attach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&lt;Template KV Segamat_BM_V1.1_APA_Sept2026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       Automatically update document style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81E166-DBF6-4D95-ABF3-5107F21E2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401" y="1276587"/>
            <a:ext cx="5884333" cy="519319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770AB6-EDB6-7FAC-FCA3-73056CAC0482}"/>
              </a:ext>
            </a:extLst>
          </p:cNvPr>
          <p:cNvSpPr txBox="1"/>
          <p:nvPr/>
        </p:nvSpPr>
        <p:spPr>
          <a:xfrm>
            <a:off x="609600" y="4394199"/>
            <a:ext cx="414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/>
              <a:t>✅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FE96D9-A08F-DDC5-E49D-AAE94A898D53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F5A2E-28CD-6809-D1A6-3B4B135BE7EB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11387793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4032-0C71-1B47-1B3F-D49B08A60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6449241-FE40-13DB-164D-43A840AFA2D7}"/>
              </a:ext>
            </a:extLst>
          </p:cNvPr>
          <p:cNvSpPr txBox="1"/>
          <p:nvPr/>
        </p:nvSpPr>
        <p:spPr>
          <a:xfrm>
            <a:off x="357188" y="1949958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-Attach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&lt;Template KV Segamat_BM_V1.1_APA_Sept2026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       Automatically update document style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7CDB78-0F85-07C4-15E0-30C7EDCD039E}"/>
              </a:ext>
            </a:extLst>
          </p:cNvPr>
          <p:cNvSpPr txBox="1"/>
          <p:nvPr/>
        </p:nvSpPr>
        <p:spPr>
          <a:xfrm>
            <a:off x="457200" y="4106332"/>
            <a:ext cx="414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/>
              <a:t>✅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ABC000-8062-8660-5EBB-90333B0D3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0366" y="1380067"/>
            <a:ext cx="6784446" cy="46189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962B9CA-4563-B592-4AD2-27CD38B0400B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966276-961C-0309-5A79-BF7B94E0D737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20713413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395967-FFEC-4524-CF7E-FAAC5DCC4AD8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14B646-118C-EAEC-9F8F-4A110D9FFEF0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r>
              <a:rPr lang="en-MY" dirty="0"/>
              <a:t> (Citation Tools)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FD94231-CC07-96EA-E9B5-36DCD97D3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67" y="1257278"/>
            <a:ext cx="5505874" cy="514799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99B3D1A-DB5D-8772-925D-BB9D59F3F5B3}"/>
              </a:ext>
            </a:extLst>
          </p:cNvPr>
          <p:cNvSpPr txBox="1"/>
          <p:nvPr/>
        </p:nvSpPr>
        <p:spPr>
          <a:xfrm>
            <a:off x="5954607" y="5918838"/>
            <a:ext cx="406363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https://www.linkedin.com/posts/shimaa-elsandoby-977a85225_reference-managers-also-known-as-citation-share-7217082147352768514-MCwk/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ED48082-BBE9-5D4E-8D67-E378373D3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868" y="1691643"/>
            <a:ext cx="3505200" cy="35052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EB5987D-FA1C-360A-40D2-B542C54D9E49}"/>
              </a:ext>
            </a:extLst>
          </p:cNvPr>
          <p:cNvSpPr txBox="1"/>
          <p:nvPr/>
        </p:nvSpPr>
        <p:spPr>
          <a:xfrm>
            <a:off x="8320556" y="5190070"/>
            <a:ext cx="3048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https://www.linkedin.com/pulse/popular-referencing-tools-research-articles-noorush-shifa-nizami/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A2FEC-B0F0-4669-FE45-812F7F4C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5">
            <a:extLst>
              <a:ext uri="{FF2B5EF4-FFF2-40B4-BE49-F238E27FC236}">
                <a16:creationId xmlns:a16="http://schemas.microsoft.com/office/drawing/2014/main" id="{4DF6851D-12F1-77E5-C7FF-93C1DBCC7291}"/>
              </a:ext>
            </a:extLst>
          </p:cNvPr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950BE15-C906-AFEF-6A4C-164892800398}"/>
              </a:ext>
            </a:extLst>
          </p:cNvPr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C52B15-8705-D807-9E4F-269C660D0A25}"/>
              </a:ext>
            </a:extLst>
          </p:cNvPr>
          <p:cNvSpPr txBox="1"/>
          <p:nvPr/>
        </p:nvSpPr>
        <p:spPr>
          <a:xfrm>
            <a:off x="914400" y="1554480"/>
            <a:ext cx="4754880" cy="2964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61C1C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MENDELEY REFERENCE MANAGER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Aplikasi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pengurusan</a:t>
            </a:r>
            <a:r>
              <a:rPr sz="1600" dirty="0">
                <a:latin typeface="Georgia" panose="02040502050405020303" pitchFamily="18" charset="0"/>
              </a:rPr>
              <a:t> PDF &amp;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popular.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Mendeley Cite Plugin: Integrasi </a:t>
            </a:r>
            <a:r>
              <a:rPr sz="1600" dirty="0" err="1">
                <a:latin typeface="Georgia" panose="02040502050405020303" pitchFamily="18" charset="0"/>
              </a:rPr>
              <a:t>terus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MS Word.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Fungsi</a:t>
            </a:r>
            <a:r>
              <a:rPr sz="1600" dirty="0">
                <a:latin typeface="Georgia" panose="02040502050405020303" pitchFamily="18" charset="0"/>
              </a:rPr>
              <a:t> Auto-Citation: </a:t>
            </a:r>
            <a:r>
              <a:rPr sz="1600" dirty="0" err="1">
                <a:latin typeface="Georgia" panose="02040502050405020303" pitchFamily="18" charset="0"/>
              </a:rPr>
              <a:t>Memasukkan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sitasi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teks</a:t>
            </a:r>
            <a:r>
              <a:rPr sz="1600" dirty="0">
                <a:latin typeface="Georgia" panose="02040502050405020303" pitchFamily="18" charset="0"/>
              </a:rPr>
              <a:t> (In-text citation).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Penjanaan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Bibliografi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Automatik</a:t>
            </a:r>
            <a:r>
              <a:rPr sz="1600" dirty="0">
                <a:latin typeface="Georgia" panose="02040502050405020303" pitchFamily="18" charset="0"/>
              </a:rPr>
              <a:t>: </a:t>
            </a:r>
            <a:r>
              <a:rPr sz="1600" dirty="0" err="1">
                <a:latin typeface="Georgia" panose="02040502050405020303" pitchFamily="18" charset="0"/>
              </a:rPr>
              <a:t>Menjana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senarai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mengikut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gaya</a:t>
            </a:r>
            <a:r>
              <a:rPr sz="1600" dirty="0">
                <a:latin typeface="Georgia" panose="02040502050405020303" pitchFamily="18" charset="0"/>
              </a:rPr>
              <a:t> APA (American Psychological Association) 7th Edition </a:t>
            </a:r>
            <a:r>
              <a:rPr sz="1600" dirty="0" err="1">
                <a:latin typeface="Georgia" panose="02040502050405020303" pitchFamily="18" charset="0"/>
              </a:rPr>
              <a:t>secara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automatik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443BE42-0B8A-37D0-890A-9A66A652B76E}"/>
              </a:ext>
            </a:extLst>
          </p:cNvPr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86849F-0EB5-9549-0CDC-279083F6FF0F}"/>
              </a:ext>
            </a:extLst>
          </p:cNvPr>
          <p:cNvSpPr txBox="1"/>
          <p:nvPr/>
        </p:nvSpPr>
        <p:spPr>
          <a:xfrm>
            <a:off x="6492240" y="1554480"/>
            <a:ext cx="4754880" cy="3211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B5B8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ZOTERO CITATION TOOL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Perisian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percuma</a:t>
            </a:r>
            <a:r>
              <a:rPr sz="1600" dirty="0">
                <a:latin typeface="Georgia" panose="02040502050405020303" pitchFamily="18" charset="0"/>
              </a:rPr>
              <a:t> &amp; </a:t>
            </a:r>
            <a:r>
              <a:rPr sz="1600" dirty="0" err="1">
                <a:latin typeface="Georgia" panose="02040502050405020303" pitchFamily="18" charset="0"/>
              </a:rPr>
              <a:t>sumber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terbuka</a:t>
            </a:r>
            <a:r>
              <a:rPr sz="1600" dirty="0">
                <a:latin typeface="Georgia" panose="02040502050405020303" pitchFamily="18" charset="0"/>
              </a:rPr>
              <a:t> (Open-Source).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Zotero Connector: </a:t>
            </a:r>
            <a:r>
              <a:rPr sz="1600" dirty="0" err="1">
                <a:latin typeface="Georgia" panose="02040502050405020303" pitchFamily="18" charset="0"/>
              </a:rPr>
              <a:t>Menyimpan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artikel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terus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dari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pelayar</a:t>
            </a:r>
            <a:r>
              <a:rPr sz="1600" dirty="0">
                <a:latin typeface="Georgia" panose="02040502050405020303" pitchFamily="18" charset="0"/>
              </a:rPr>
              <a:t> web (Chrome/Edge).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Sokongan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gaya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sitasi</a:t>
            </a:r>
            <a:r>
              <a:rPr sz="1600" dirty="0">
                <a:latin typeface="Georgia" panose="02040502050405020303" pitchFamily="18" charset="0"/>
              </a:rPr>
              <a:t> yang </a:t>
            </a:r>
            <a:r>
              <a:rPr sz="1600" dirty="0" err="1">
                <a:latin typeface="Georgia" panose="02040502050405020303" pitchFamily="18" charset="0"/>
              </a:rPr>
              <a:t>fleksibel</a:t>
            </a:r>
            <a:r>
              <a:rPr sz="1600" dirty="0">
                <a:latin typeface="Georgia" panose="02040502050405020303" pitchFamily="18" charset="0"/>
              </a:rPr>
              <a:t> &amp; </a:t>
            </a:r>
            <a:r>
              <a:rPr sz="1600" dirty="0" err="1">
                <a:latin typeface="Georgia" panose="02040502050405020303" pitchFamily="18" charset="0"/>
              </a:rPr>
              <a:t>kemaskini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pantas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Mengelakkan </a:t>
            </a:r>
            <a:r>
              <a:rPr sz="1600" dirty="0" err="1">
                <a:latin typeface="Georgia" panose="02040502050405020303" pitchFamily="18" charset="0"/>
              </a:rPr>
              <a:t>Kesilapan</a:t>
            </a:r>
            <a:r>
              <a:rPr sz="1600" dirty="0">
                <a:latin typeface="Georgia" panose="02040502050405020303" pitchFamily="18" charset="0"/>
              </a:rPr>
              <a:t> Manual: </a:t>
            </a:r>
            <a:r>
              <a:rPr sz="1600" dirty="0" err="1">
                <a:latin typeface="Georgia" panose="02040502050405020303" pitchFamily="18" charset="0"/>
              </a:rPr>
              <a:t>Menghilangkan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risiko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kesilapan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ejaan</a:t>
            </a:r>
            <a:r>
              <a:rPr sz="1600" dirty="0">
                <a:latin typeface="Georgia" panose="02040502050405020303" pitchFamily="18" charset="0"/>
              </a:rPr>
              <a:t> nama </a:t>
            </a:r>
            <a:r>
              <a:rPr sz="1600" dirty="0" err="1">
                <a:latin typeface="Georgia" panose="02040502050405020303" pitchFamily="18" charset="0"/>
              </a:rPr>
              <a:t>pengarang</a:t>
            </a:r>
            <a:r>
              <a:rPr sz="1600" dirty="0">
                <a:latin typeface="Georgia" panose="02040502050405020303" pitchFamily="18" charset="0"/>
              </a:rPr>
              <a:t> dan </a:t>
            </a:r>
            <a:r>
              <a:rPr sz="1600" dirty="0" err="1">
                <a:latin typeface="Georgia" panose="02040502050405020303" pitchFamily="18" charset="0"/>
              </a:rPr>
              <a:t>tahun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Senarai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Laporan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519C01-B4D8-7B7D-062C-90D1D7CA7CB3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0AC350-0946-77E8-F7C9-790A5B06BD9B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r>
              <a:rPr lang="en-MY" dirty="0"/>
              <a:t> (APA Style)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8DD7B57-CC38-EA7E-B1C2-35982AA06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71" y="4335939"/>
            <a:ext cx="1733154" cy="17331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F312264-50BB-1A5C-0BAF-EB6478607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294" y="4630605"/>
            <a:ext cx="2876974" cy="1438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5760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3B0BF-510E-1A1E-9B3C-7286E3A0E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ACFAE9D-9342-6A1C-B527-679C68A0085C}"/>
              </a:ext>
            </a:extLst>
          </p:cNvPr>
          <p:cNvSpPr txBox="1"/>
          <p:nvPr/>
        </p:nvSpPr>
        <p:spPr>
          <a:xfrm>
            <a:off x="186267" y="3582698"/>
            <a:ext cx="6129866" cy="2954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Mendeley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-Install Mendeley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 Manager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Install Mendeley Cite 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(Microsoft Word)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Install Mendeley Web Importer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CD6533-A7A8-37EE-7512-2037737E1B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8344"/>
          <a:stretch>
            <a:fillRect/>
          </a:stretch>
        </p:blipFill>
        <p:spPr>
          <a:xfrm>
            <a:off x="6900334" y="3002892"/>
            <a:ext cx="4944686" cy="349711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F038030-140E-8C21-D52A-C3F99C10C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95" y="1214125"/>
            <a:ext cx="11734800" cy="176463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D145A2-4726-AB94-EA5A-3F8D456DB64E}"/>
              </a:ext>
            </a:extLst>
          </p:cNvPr>
          <p:cNvSpPr txBox="1"/>
          <p:nvPr/>
        </p:nvSpPr>
        <p:spPr>
          <a:xfrm>
            <a:off x="346980" y="3167390"/>
            <a:ext cx="4648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800" dirty="0"/>
              <a:t>https://www.mendeley.com/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804AFD-5918-C9FC-91D7-35E3C7BC78DA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4D52A3-1C59-643D-5F74-A2BEBB0086BD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2628972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93582-43E5-5103-F93E-65DD61722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C99E87D-37CD-DB5A-8AD5-10717BEDC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9" y="3311657"/>
            <a:ext cx="7744764" cy="191673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8F04A4-3115-6CC7-5D47-2000301A8C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4317"/>
          <a:stretch>
            <a:fillRect/>
          </a:stretch>
        </p:blipFill>
        <p:spPr>
          <a:xfrm>
            <a:off x="8850214" y="59850"/>
            <a:ext cx="2687304" cy="342013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4738937-4BC7-2AE0-1719-447BE20A2B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425"/>
          <a:stretch>
            <a:fillRect/>
          </a:stretch>
        </p:blipFill>
        <p:spPr>
          <a:xfrm>
            <a:off x="8191799" y="3105148"/>
            <a:ext cx="2687304" cy="369300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109C1CA-CE33-FF50-D883-FE902975113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92" t="9976" r="743" b="20677"/>
          <a:stretch>
            <a:fillRect/>
          </a:stretch>
        </p:blipFill>
        <p:spPr>
          <a:xfrm>
            <a:off x="127327" y="1629611"/>
            <a:ext cx="7744764" cy="15072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50BA170-D539-4B31-A877-28B42100841C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7C4155-C70B-F211-4447-CADA236FCA4E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lang="en-MY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5251A1-B172-0ECB-1BCD-2091B9471A6B}"/>
              </a:ext>
            </a:extLst>
          </p:cNvPr>
          <p:cNvSpPr txBox="1"/>
          <p:nvPr/>
        </p:nvSpPr>
        <p:spPr>
          <a:xfrm>
            <a:off x="1998134" y="1228528"/>
            <a:ext cx="44450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Format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3050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8F998-66F1-734A-C26B-92427DB04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F6C1A8F-7DCB-9E7D-A4E1-EB66BA428414}"/>
              </a:ext>
            </a:extLst>
          </p:cNvPr>
          <p:cNvSpPr txBox="1"/>
          <p:nvPr/>
        </p:nvSpPr>
        <p:spPr>
          <a:xfrm>
            <a:off x="-275616" y="1285944"/>
            <a:ext cx="6371617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Format (APA Style 7</a:t>
            </a:r>
            <a:r>
              <a:rPr lang="en-MY" baseline="30000" dirty="0">
                <a:solidFill>
                  <a:srgbClr val="FF0000"/>
                </a:solidFill>
              </a:rPr>
              <a:t>th</a:t>
            </a:r>
            <a:r>
              <a:rPr lang="en-MY" dirty="0">
                <a:solidFill>
                  <a:srgbClr val="FF0000"/>
                </a:solidFill>
              </a:rPr>
              <a:t>  edition)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501704-3686-D615-A095-2586FE1882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425"/>
          <a:stretch>
            <a:fillRect/>
          </a:stretch>
        </p:blipFill>
        <p:spPr>
          <a:xfrm>
            <a:off x="6714066" y="1441582"/>
            <a:ext cx="3500978" cy="481118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E9693E-1BDB-3353-815B-D869CA67F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335" y="1687026"/>
            <a:ext cx="5624666" cy="471797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3897188-23AA-5E0E-8D04-56A4D615B235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C72EB2-626C-57BB-37D7-CE51F34510D7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8202715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6F62E5F-E398-488E-6738-871C65FB919C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2D6B7-75BF-0BC9-A4D8-6E26107D5BB5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Q&amp;A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9B4DAC-A017-E317-F54E-B86BDB600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5709" y="1527572"/>
            <a:ext cx="7756625" cy="4411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2720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817</TotalTime>
  <Words>2049</Words>
  <Application>Microsoft Office PowerPoint</Application>
  <PresentationFormat>Widescreen</PresentationFormat>
  <Paragraphs>224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Aptos</vt:lpstr>
      <vt:lpstr>Arial</vt:lpstr>
      <vt:lpstr>Calibri</vt:lpstr>
      <vt:lpstr>Calibri Light</vt:lpstr>
      <vt:lpstr>Georgia</vt:lpstr>
      <vt:lpstr>Roboto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MAHDZIR JAMIAAN</dc:creator>
  <cp:keywords/>
  <dc:description>generated using python-pptx</dc:description>
  <cp:lastModifiedBy>MAHDZIR JAMIAAN</cp:lastModifiedBy>
  <cp:revision>31</cp:revision>
  <dcterms:created xsi:type="dcterms:W3CDTF">2013-01-27T09:14:16Z</dcterms:created>
  <dcterms:modified xsi:type="dcterms:W3CDTF">2026-09-23T03:29:41Z</dcterms:modified>
  <cp:category/>
</cp:coreProperties>
</file>