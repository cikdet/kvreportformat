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notesMasterIdLst>
    <p:notesMasterId r:id="rId23"/>
  </p:notesMasterIdLst>
  <p:sldIdLst>
    <p:sldId id="276" r:id="rId2"/>
    <p:sldId id="340" r:id="rId3"/>
    <p:sldId id="257" r:id="rId4"/>
    <p:sldId id="258" r:id="rId5"/>
    <p:sldId id="259" r:id="rId6"/>
    <p:sldId id="260" r:id="rId7"/>
    <p:sldId id="261" r:id="rId8"/>
    <p:sldId id="262" r:id="rId9"/>
    <p:sldId id="341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4" r:id="rId20"/>
    <p:sldId id="273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BA58E-A761-43A6-A560-8F49DDD8907E}" type="datetimeFigureOut">
              <a:rPr lang="en-MY" smtClean="0"/>
              <a:t>22/9/2026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A18D0-2719-4195-9FE5-5AFA5E6E042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794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b="1" dirty="0"/>
              <a:t>Script:</a:t>
            </a:r>
            <a:br>
              <a:rPr lang="en-MY" dirty="0"/>
            </a:br>
            <a:r>
              <a:rPr lang="en-MY" dirty="0"/>
              <a:t>Good morning and thank you to the panel members, Assoc. Professor Dr. Mohd Razali and Assoc. Prof Dr Mohd </a:t>
            </a:r>
            <a:r>
              <a:rPr lang="en-MY" dirty="0" err="1"/>
              <a:t>Norzali</a:t>
            </a:r>
            <a:r>
              <a:rPr lang="en-MY" dirty="0"/>
              <a:t>.</a:t>
            </a:r>
            <a:br>
              <a:rPr lang="en-MY" dirty="0"/>
            </a:br>
            <a:r>
              <a:rPr lang="en-MY" dirty="0"/>
              <a:t>My name is </a:t>
            </a:r>
            <a:r>
              <a:rPr lang="en-MY" b="1" dirty="0" err="1"/>
              <a:t>Mahdzir</a:t>
            </a:r>
            <a:r>
              <a:rPr lang="en-MY" b="1" dirty="0"/>
              <a:t> </a:t>
            </a:r>
            <a:r>
              <a:rPr lang="en-MY" b="1" dirty="0" err="1"/>
              <a:t>Jamia’an</a:t>
            </a:r>
            <a:r>
              <a:rPr lang="en-MY" dirty="0"/>
              <a:t>, from FKEE under the program of PEE under the supervision of Prof. Dr. Soon Chin </a:t>
            </a:r>
            <a:r>
              <a:rPr lang="en-MY" dirty="0" err="1"/>
              <a:t>Fhong</a:t>
            </a:r>
            <a:r>
              <a:rPr lang="en-MY" dirty="0"/>
              <a:t> and Co-SV, Assoc. Prof Dr Chia Kim Seng.</a:t>
            </a:r>
          </a:p>
          <a:p>
            <a:r>
              <a:rPr lang="en-MY" dirty="0"/>
              <a:t> I am pleased to present my research proposal with the title of </a:t>
            </a:r>
            <a:r>
              <a:rPr lang="en-MY" i="1" dirty="0"/>
              <a:t>“Novel Anomaly Detection and Growth Phase Forecasting in Microalgae Cultivation Using IoT Sensor and Edge-Deployed LSTM Autoencoder and Isolation Forest Models.”</a:t>
            </a:r>
            <a:endParaRPr lang="en-MY" dirty="0"/>
          </a:p>
          <a:p>
            <a:r>
              <a:rPr lang="en-MY" dirty="0"/>
              <a:t>In simple terms, my research combines </a:t>
            </a:r>
            <a:r>
              <a:rPr lang="en-MY" b="1" dirty="0"/>
              <a:t>IoT technology</a:t>
            </a:r>
            <a:r>
              <a:rPr lang="en-MY" dirty="0"/>
              <a:t>, </a:t>
            </a:r>
            <a:r>
              <a:rPr lang="en-MY" b="1" dirty="0"/>
              <a:t>real-time data collection</a:t>
            </a:r>
            <a:r>
              <a:rPr lang="en-MY" dirty="0"/>
              <a:t>, and </a:t>
            </a:r>
            <a:r>
              <a:rPr lang="en-MY" b="1" dirty="0"/>
              <a:t>machine learning algorithms</a:t>
            </a:r>
            <a:r>
              <a:rPr lang="en-MY" dirty="0"/>
              <a:t> to improve how we monitor and manage microalgae cultivation.</a:t>
            </a:r>
            <a:br>
              <a:rPr lang="en-MY" dirty="0"/>
            </a:br>
            <a:r>
              <a:rPr lang="en-MY" dirty="0"/>
              <a:t>This work aims to create a smarter, more efficient, and sustainable way to produce microalgae, which has growing importance in the bioeconomy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EDF214-83EE-4EBF-AA62-F994A20833A6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315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dirty="0"/>
              <a:t>“Initial time series analysis has been conducted”</a:t>
            </a:r>
          </a:p>
          <a:p>
            <a:r>
              <a:rPr lang="en-MY" dirty="0"/>
              <a:t>“System development has been completed”</a:t>
            </a:r>
          </a:p>
          <a:p>
            <a:r>
              <a:rPr lang="en-MY" dirty="0"/>
              <a:t>“Data acquisition is ongoing”</a:t>
            </a:r>
          </a:p>
          <a:p>
            <a:r>
              <a:rPr lang="en-MY" dirty="0"/>
              <a:t>“Machine learning models are currently being evaluated”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EDF214-83EE-4EBF-AA62-F994A20833A6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6920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805CA4-B0B2-06A6-6418-B382C7B6D0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4" y="0"/>
            <a:ext cx="1218197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57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8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8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5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0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6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43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4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71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25043E-EED9-49E3-A00E-BADACD1356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4" y="0"/>
            <a:ext cx="1218197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682" y="1122363"/>
            <a:ext cx="6665154" cy="2387600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682" y="3645374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12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D8A62-138A-4536-A129-FE5317EF89D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E8D51-C2C7-4656-BC41-2D98C74514C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C0A0A-DCB2-1DD8-754B-7D455D71F87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5" y="0"/>
            <a:ext cx="12181968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177086" y="4230940"/>
            <a:ext cx="7472752" cy="165576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Oleh: </a:t>
            </a:r>
          </a:p>
          <a:p>
            <a:pPr marL="0" indent="0" algn="l">
              <a:buNone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Ts. M</a:t>
            </a:r>
            <a:r>
              <a:rPr lang="en-US" b="1" dirty="0"/>
              <a:t>AHDZIR BIN JAMIAAN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Senior Lecture (DH13) </a:t>
            </a:r>
            <a:r>
              <a:rPr lang="en-US" sz="20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PolyCC</a:t>
            </a:r>
            <a:endParaRPr lang="en-US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Postgraduate UTHM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solidFill>
                  <a:prstClr val="black"/>
                </a:solidFill>
              </a:rPr>
              <a:t>Mint-SRC / FKEE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solidFill>
                  <a:prstClr val="black"/>
                </a:solidFill>
              </a:rPr>
              <a:t>Universiti Tun Hussein Onn Malaysia (UTHM)</a:t>
            </a:r>
          </a:p>
          <a:p>
            <a:pPr marL="0" indent="0" algn="l">
              <a:buNone/>
            </a:pPr>
            <a:endParaRPr lang="en-US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F0C24-8EFF-4D5B-FECE-87736460D477}"/>
              </a:ext>
            </a:extLst>
          </p:cNvPr>
          <p:cNvSpPr txBox="1"/>
          <p:nvPr/>
        </p:nvSpPr>
        <p:spPr>
          <a:xfrm>
            <a:off x="1024428" y="915599"/>
            <a:ext cx="103327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  <a:latin typeface="Georgia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PANDUAN PENULISAN LAPORAN P</a:t>
            </a:r>
            <a:r>
              <a:rPr lang="en-MY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ROJEK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en-MY" dirty="0">
                <a:solidFill>
                  <a:schemeClr val="tx1">
                    <a:lumMod val="95000"/>
                    <a:lumOff val="5000"/>
                  </a:schemeClr>
                </a:solidFill>
              </a:rPr>
              <a:t>AHUN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en-MY" dirty="0">
                <a:solidFill>
                  <a:schemeClr val="tx1">
                    <a:lumMod val="95000"/>
                    <a:lumOff val="5000"/>
                  </a:schemeClr>
                </a:solidFill>
              </a:rPr>
              <a:t>KHIR (PTA)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Bef>
                <a:spcPts val="1200"/>
              </a:spcBef>
              <a:defRPr sz="2400" b="0">
                <a:solidFill>
                  <a:srgbClr val="FFFFFF"/>
                </a:solidFill>
                <a:latin typeface="Georgia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Garis Panduan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Projek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Tahun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Akhir Kolej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Vokasional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Edisi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2023)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F41F6-5DAB-2E36-5810-8C9A1C12E9DD}"/>
              </a:ext>
            </a:extLst>
          </p:cNvPr>
          <p:cNvSpPr txBox="1"/>
          <p:nvPr/>
        </p:nvSpPr>
        <p:spPr>
          <a:xfrm>
            <a:off x="291830" y="2876723"/>
            <a:ext cx="1168291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rPr sz="2400" dirty="0">
                <a:solidFill>
                  <a:srgbClr val="FF0000"/>
                </a:solidFill>
              </a:rPr>
              <a:t>Sesi </a:t>
            </a:r>
            <a:r>
              <a:rPr sz="2400" dirty="0" err="1">
                <a:solidFill>
                  <a:srgbClr val="FF0000"/>
                </a:solidFill>
              </a:rPr>
              <a:t>Perkongsian</a:t>
            </a:r>
            <a:r>
              <a:rPr sz="2400" dirty="0">
                <a:solidFill>
                  <a:srgbClr val="FF0000"/>
                </a:solidFill>
              </a:rPr>
              <a:t> Format </a:t>
            </a:r>
            <a:r>
              <a:rPr sz="2400" dirty="0" err="1">
                <a:solidFill>
                  <a:srgbClr val="FF0000"/>
                </a:solidFill>
              </a:rPr>
              <a:t>Laporan</a:t>
            </a:r>
            <a:r>
              <a:rPr sz="2400" dirty="0">
                <a:solidFill>
                  <a:srgbClr val="FF0000"/>
                </a:solidFill>
              </a:rPr>
              <a:t> Akhir &amp; </a:t>
            </a:r>
            <a:r>
              <a:rPr sz="2400" dirty="0" err="1">
                <a:solidFill>
                  <a:srgbClr val="FF0000"/>
                </a:solidFill>
              </a:rPr>
              <a:t>Syarat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Kelulusan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Graduasi</a:t>
            </a:r>
            <a:endParaRPr sz="2400" dirty="0">
              <a:solidFill>
                <a:srgbClr val="FF0000"/>
              </a:solidFill>
            </a:endParaRPr>
          </a:p>
          <a:p>
            <a:pPr algn="ctr">
              <a:spcBef>
                <a:spcPts val="600"/>
              </a:spcBef>
              <a:defRPr sz="1400">
                <a:solidFill>
                  <a:srgbClr val="D4AF37"/>
                </a:solidFill>
                <a:latin typeface="Arial"/>
              </a:defRPr>
            </a:pPr>
            <a:r>
              <a:rPr sz="2400" dirty="0" err="1">
                <a:solidFill>
                  <a:srgbClr val="FF0000"/>
                </a:solidFill>
              </a:rPr>
              <a:t>Untuk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Pelajar</a:t>
            </a:r>
            <a:r>
              <a:rPr sz="2400" dirty="0">
                <a:solidFill>
                  <a:srgbClr val="FF0000"/>
                </a:solidFill>
              </a:rPr>
              <a:t> Diploma </a:t>
            </a:r>
            <a:r>
              <a:rPr sz="2400" dirty="0" err="1">
                <a:solidFill>
                  <a:srgbClr val="FF0000"/>
                </a:solidFill>
              </a:rPr>
              <a:t>Vokasional</a:t>
            </a:r>
            <a:r>
              <a:rPr sz="2400" dirty="0">
                <a:solidFill>
                  <a:srgbClr val="FF0000"/>
                </a:solidFill>
              </a:rPr>
              <a:t> Malaysia (DVM)  </a:t>
            </a:r>
            <a:endParaRPr lang="en-MY" sz="2400" dirty="0">
              <a:solidFill>
                <a:srgbClr val="FF0000"/>
              </a:solidFill>
            </a:endParaRPr>
          </a:p>
          <a:p>
            <a:pPr algn="ctr">
              <a:spcBef>
                <a:spcPts val="600"/>
              </a:spcBef>
              <a:defRPr sz="1400">
                <a:solidFill>
                  <a:srgbClr val="D4AF37"/>
                </a:solidFill>
                <a:latin typeface="Arial"/>
              </a:defRPr>
            </a:pPr>
            <a:r>
              <a:rPr sz="2400" dirty="0">
                <a:solidFill>
                  <a:srgbClr val="FF0000"/>
                </a:solidFill>
              </a:rPr>
              <a:t>Kementerian Pendidikan Malaysia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73319F-BF99-03E6-6E66-BE755CCF4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22" y="4044581"/>
            <a:ext cx="1546872" cy="23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03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0433-1BA4-AB8D-6797-5C22B01F8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34F1FB-720B-F974-EC78-9E4EB2DD6EA6}"/>
              </a:ext>
            </a:extLst>
          </p:cNvPr>
          <p:cNvSpPr/>
          <p:nvPr/>
        </p:nvSpPr>
        <p:spPr>
          <a:xfrm>
            <a:off x="113122" y="952107"/>
            <a:ext cx="11972041" cy="1140644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8BE30B-CC18-DEA7-CA1A-0557A0C377BD}"/>
              </a:ext>
            </a:extLst>
          </p:cNvPr>
          <p:cNvSpPr/>
          <p:nvPr/>
        </p:nvSpPr>
        <p:spPr>
          <a:xfrm>
            <a:off x="226244" y="1055801"/>
            <a:ext cx="2300140" cy="9144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E5D2D-FB88-0C01-E85E-A52CB91ADC0C}"/>
              </a:ext>
            </a:extLst>
          </p:cNvPr>
          <p:cNvSpPr txBox="1"/>
          <p:nvPr/>
        </p:nvSpPr>
        <p:spPr>
          <a:xfrm>
            <a:off x="5030772" y="1045375"/>
            <a:ext cx="2155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E30F12-DBD0-4FAA-4040-44A3BB603811}"/>
              </a:ext>
            </a:extLst>
          </p:cNvPr>
          <p:cNvSpPr txBox="1"/>
          <p:nvPr/>
        </p:nvSpPr>
        <p:spPr>
          <a:xfrm>
            <a:off x="7378045" y="1246646"/>
            <a:ext cx="2155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8E2F23-A61B-C7DA-BCDA-3AAB57BD1E93}"/>
              </a:ext>
            </a:extLst>
          </p:cNvPr>
          <p:cNvSpPr txBox="1"/>
          <p:nvPr/>
        </p:nvSpPr>
        <p:spPr>
          <a:xfrm>
            <a:off x="9810161" y="1073653"/>
            <a:ext cx="2155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 OF STUDY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9FECE-47C7-DCFC-83BA-A371A7329CC3}"/>
              </a:ext>
            </a:extLst>
          </p:cNvPr>
          <p:cNvSpPr txBox="1"/>
          <p:nvPr/>
        </p:nvSpPr>
        <p:spPr>
          <a:xfrm>
            <a:off x="2613582" y="1104430"/>
            <a:ext cx="22451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BACKGROUND STUDY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33165-67BD-AAAD-F194-F3EC8274A261}"/>
              </a:ext>
            </a:extLst>
          </p:cNvPr>
          <p:cNvSpPr txBox="1"/>
          <p:nvPr/>
        </p:nvSpPr>
        <p:spPr>
          <a:xfrm>
            <a:off x="238812" y="1073653"/>
            <a:ext cx="225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ISI KANDUNGAN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40BD3-4DF9-D8E4-C182-83DFE447B57E}"/>
              </a:ext>
            </a:extLst>
          </p:cNvPr>
          <p:cNvSpPr txBox="1"/>
          <p:nvPr/>
        </p:nvSpPr>
        <p:spPr>
          <a:xfrm>
            <a:off x="238812" y="2380045"/>
            <a:ext cx="103032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1.0 Progress (Progress update (Gaps  and contribution)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a) Multivariate Real Time Series Anomaly Detection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(MRAD) – adaptive threshold (AT)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b) Data smoothing / Rolling windows (data cleaning)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c) LSTM-AE Machine learning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56D11-F3A4-261C-8E3C-836F0637BCD8}"/>
              </a:ext>
            </a:extLst>
          </p:cNvPr>
          <p:cNvSpPr txBox="1"/>
          <p:nvPr/>
        </p:nvSpPr>
        <p:spPr>
          <a:xfrm>
            <a:off x="69654" y="4990141"/>
            <a:ext cx="7755260" cy="587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2.0 Future Planning (paper publication)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B350E-659E-7521-F807-8160DF4B1659}"/>
              </a:ext>
            </a:extLst>
          </p:cNvPr>
          <p:cNvSpPr txBox="1"/>
          <p:nvPr/>
        </p:nvSpPr>
        <p:spPr>
          <a:xfrm>
            <a:off x="69654" y="5612244"/>
            <a:ext cx="7229229" cy="587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3.0 Q&amp;A and  Discussion</a:t>
            </a:r>
          </a:p>
        </p:txBody>
      </p:sp>
    </p:spTree>
    <p:extLst>
      <p:ext uri="{BB962C8B-B14F-4D97-AF65-F5344CB8AC3E}">
        <p14:creationId xmlns:p14="http://schemas.microsoft.com/office/powerpoint/2010/main" val="4216271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Penulisan Formal Menterjemah Inovasi Praktikal ke Standard Akademik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Kepentingan Laporan 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Penterjemahan Kemahiran Teknikal: </a:t>
            </a:r>
            <a:r>
              <a:rPr>
                <a:solidFill>
                  <a:srgbClr val="2A2D34"/>
                </a:solidFill>
              </a:rPr>
              <a:t>Menilai keupayaan pelajar menterjemah projek fizikal, perisian atau kajian sosial ke dalam bentuk penulisan akademik yang formal [11, 15, 22].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Kemahiran Abad ke-21: </a:t>
            </a:r>
            <a:r>
              <a:rPr>
                <a:solidFill>
                  <a:srgbClr val="2A2D34"/>
                </a:solidFill>
              </a:rPr>
              <a:t>Melatih pelajar berfikir secara kritis, mengurus masa, menganalisis data, mengira kos, dan berkomunikasi dengan berkesan [10, 11, 17].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Penyelesaian Masalah Industri: </a:t>
            </a:r>
            <a:r>
              <a:rPr>
                <a:solidFill>
                  <a:srgbClr val="2A2D34"/>
                </a:solidFill>
              </a:rPr>
              <a:t>Membuktikan kebolehan pelajar menangani masalah sebenar berlandaskan teori kejuruteraan dan teknologi terkini [11, 23, 143].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Eviden Kelayakan Professional: </a:t>
            </a:r>
            <a:r>
              <a:rPr>
                <a:solidFill>
                  <a:srgbClr val="2A2D34"/>
                </a:solidFill>
              </a:rPr>
              <a:t>Memenuhi kehendak Lembaga Akreditasi (MQA &amp; MBOT) untuk membuktikan pencapaian Hasil Pembelajaran Program (PLO) [11, 78].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Integriti Akademik &amp; Larangan Keras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Larangan Plagiat: </a:t>
            </a:r>
            <a:r>
              <a:rPr>
                <a:solidFill>
                  <a:srgbClr val="2A2D34"/>
                </a:solidFill>
              </a:rPr>
              <a:t>Amalan memetik bahan (ayat, perenggan, atau idea) dari sumber luar tanpa menyatakan sumber rujukan asal mengikut format APA [26].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Larangan Ciplak: </a:t>
            </a:r>
            <a:r>
              <a:rPr>
                <a:solidFill>
                  <a:srgbClr val="2A2D34"/>
                </a:solidFill>
              </a:rPr>
              <a:t>Meniru keseluruhan atau sebahagian besar projek pihak lain secara tidak sah, lalu menuntutnya sebagai hak milik sendiri [27].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Larangan Outsourcing: </a:t>
            </a:r>
            <a:r>
              <a:rPr>
                <a:solidFill>
                  <a:srgbClr val="2A2D34"/>
                </a:solidFill>
              </a:rPr>
              <a:t>Mengupah atau meminta bantuan pihak luar (vendor, agen, atau individu lain) untuk membina projek atau menulis laporan [27].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D62828"/>
                </a:solidFill>
              </a:rPr>
              <a:t>TINDAKAN MAKSIMUM: Jika dikesan melakukan plagiat, ciplak, atau outsourcing, Kolej Vokasional (PPT) berhak mengenakan tindakan serta-merta dan MENGGAGALKAN PTA tersebut [26, 28].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Pelaksanaan Projek Meliputi PTA 1 &amp; PTA 2 Sepanjang Dua Semester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PTA 1 (Semester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KOD DMA 3062 | 2 UNIT KREDIT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Penyediaan Kertas Cadangan: </a:t>
            </a:r>
            <a:r>
              <a:rPr>
                <a:solidFill>
                  <a:srgbClr val="2A2D34"/>
                </a:solidFill>
              </a:rPr>
              <a:t>Fokus utama kepada penyusunan proposal [20].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Sesi Pembentangan: </a:t>
            </a:r>
            <a:r>
              <a:rPr>
                <a:solidFill>
                  <a:srgbClr val="2A2D34"/>
                </a:solidFill>
              </a:rPr>
              <a:t>Membentangkan kertas cadangan kepada Penyelia Projek [20].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Mula Menulis Laporan: </a:t>
            </a:r>
            <a:r>
              <a:rPr>
                <a:solidFill>
                  <a:srgbClr val="2A2D34"/>
                </a:solidFill>
              </a:rPr>
              <a:t>Menulis draf Bab 1 (Pengenalan), Bab 2 (Literatur), &amp; Bab 3 (Metodologi) [20].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Kemajuan Minimum: </a:t>
            </a:r>
            <a:r>
              <a:rPr>
                <a:solidFill>
                  <a:srgbClr val="2A2D34"/>
                </a:solidFill>
              </a:rPr>
              <a:t>Mencapai kemajuan projek sekurang-kurangnya 30% [124].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Prasyarat Lulus: </a:t>
            </a:r>
            <a:r>
              <a:rPr>
                <a:solidFill>
                  <a:srgbClr val="2A2D34"/>
                </a:solidFill>
              </a:rPr>
              <a:t>Wajib Lulus PTA 1 sebelum dibenarkan mendaftar PTA 2 [20].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PTA 2 (Semester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KOD DMA 4054 | 4 UNIT KREDIT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Prasyarat Lulus: </a:t>
            </a:r>
            <a:r>
              <a:rPr>
                <a:solidFill>
                  <a:srgbClr val="2A2D34"/>
                </a:solidFill>
              </a:rPr>
              <a:t>Wajib Lulus kursus PTA 1 (DMA 3062) [158].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Pembangunan &amp; Pengujian: </a:t>
            </a:r>
            <a:r>
              <a:rPr>
                <a:solidFill>
                  <a:srgbClr val="2A2D34"/>
                </a:solidFill>
              </a:rPr>
              <a:t>Pembuatan dan pengujian penuh produk/perisian [21, 161].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Penyiapan Laporan: </a:t>
            </a:r>
            <a:r>
              <a:rPr>
                <a:solidFill>
                  <a:srgbClr val="2A2D34"/>
                </a:solidFill>
              </a:rPr>
              <a:t>Menyelesaikan penulisan laporan akhir Bab 4 &amp; Bab 5 [21].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Semakan Tatabahasa: </a:t>
            </a:r>
            <a:r>
              <a:rPr>
                <a:solidFill>
                  <a:srgbClr val="2A2D34"/>
                </a:solidFill>
              </a:rPr>
              <a:t>Laporan disemak oleh Proof Reader sebelum dinilai [16, 17].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Pembentangan &amp; Demonstrasi: </a:t>
            </a:r>
            <a:r>
              <a:rPr>
                <a:solidFill>
                  <a:srgbClr val="2A2D34"/>
                </a:solidFill>
              </a:rPr>
              <a:t>Pembentangan akhir bersama demonstrasi projek [21, 70].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Bab 1-3 Membina Landasan Kajian Melalui Pengenalan, Literatur, dan Metodologi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1: Pengenalan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Pengenalan Projek: </a:t>
            </a:r>
            <a:r>
              <a:rPr>
                <a:solidFill>
                  <a:srgbClr val="2A2D34"/>
                </a:solidFill>
              </a:rPr>
              <a:t>Gambaran keseluruhan kajian, inovasi, dan perancangan [41, 42].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Latar Belakang: </a:t>
            </a:r>
            <a:r>
              <a:rPr>
                <a:solidFill>
                  <a:srgbClr val="2A2D34"/>
                </a:solidFill>
              </a:rPr>
              <a:t>Penerangan bagaimana idea asal tercetus beserta suasana masalah [42].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Pernyataan Masalah: </a:t>
            </a:r>
            <a:r>
              <a:rPr>
                <a:solidFill>
                  <a:srgbClr val="2A2D34"/>
                </a:solidFill>
              </a:rPr>
              <a:t>Keadaan sebenar yang dihadapi yang mencetuskan keperluan inovasi [42].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Objektif Projek: </a:t>
            </a:r>
            <a:r>
              <a:rPr>
                <a:solidFill>
                  <a:srgbClr val="2A2D34"/>
                </a:solidFill>
              </a:rPr>
              <a:t>Sasaran projek yang spesifik, ringkas, boleh diukur, dan dicapai [43].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Skop Projek: </a:t>
            </a:r>
            <a:r>
              <a:rPr>
                <a:solidFill>
                  <a:srgbClr val="2A2D34"/>
                </a:solidFill>
              </a:rPr>
              <a:t>Limitasi, dimensi, saiz, sasaran pengguna, dan had keupayaan [45, 46].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2: Kajian Literatur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Ulasan Kajian Lepas: </a:t>
            </a:r>
            <a:r>
              <a:rPr>
                <a:solidFill>
                  <a:srgbClr val="2A2D34"/>
                </a:solidFill>
              </a:rPr>
              <a:t>Huraian kajian-kajian terdahulu yang berkait dengan pembolehubah projek [47].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Asas Pengetahuan: </a:t>
            </a:r>
            <a:r>
              <a:rPr>
                <a:solidFill>
                  <a:srgbClr val="2A2D34"/>
                </a:solidFill>
              </a:rPr>
              <a:t>Mengulas teori, konsep, hipotesis, dan maklumat komponen yang akan digunapakai [48].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Justifikasi Kepentingan: </a:t>
            </a:r>
            <a:r>
              <a:rPr>
                <a:solidFill>
                  <a:srgbClr val="2A2D34"/>
                </a:solidFill>
              </a:rPr>
              <a:t>Menjelaskan mengapa projek perlu dilaksanakan berbanding rekaan sedia ada [49, 50].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Rujukan Teks: </a:t>
            </a:r>
            <a:r>
              <a:rPr>
                <a:solidFill>
                  <a:srgbClr val="2A2D34"/>
                </a:solidFill>
              </a:rPr>
              <a:t>Memetik sumber ilmiah secara konsisten mengikut sistem rujukan APA [47, 51, 60].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3: Metodologi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Konsep Reka Bentuk: </a:t>
            </a:r>
            <a:r>
              <a:rPr>
                <a:solidFill>
                  <a:srgbClr val="2A2D34"/>
                </a:solidFill>
              </a:rPr>
              <a:t>Menerangkan saiz, bahan mentah, komponen, fungsi, dan reka bentuk 2D/3D [52, 53].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Proses Pembuatan: </a:t>
            </a:r>
            <a:r>
              <a:rPr>
                <a:solidFill>
                  <a:srgbClr val="2A2D34"/>
                </a:solidFill>
              </a:rPr>
              <a:t>Aliran proses kerja (Carta Alir) dan teknik pengukuran/pembuatan [53, 54].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Anggaran Kos: </a:t>
            </a:r>
            <a:r>
              <a:rPr>
                <a:solidFill>
                  <a:srgbClr val="2A2D34"/>
                </a:solidFill>
              </a:rPr>
              <a:t>Kos bahan mentah, buruh, utiliti, dan pengiraan kos keseluruhan [53, 54].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Perancangan Projek: </a:t>
            </a:r>
            <a:r>
              <a:rPr>
                <a:solidFill>
                  <a:srgbClr val="2A2D34"/>
                </a:solidFill>
              </a:rPr>
              <a:t>Carta Gantt mingguan untuk membandingkan perancangan vs pelaksanaan [55, 56].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Bab 4-5 dan Abstrak Merumuskan Dapatan, Analisis, serta Impak Projek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4: Dapatan &amp; Analisis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Senarai Alatan Pengujian: </a:t>
            </a:r>
            <a:r>
              <a:rPr>
                <a:solidFill>
                  <a:srgbClr val="2A2D34"/>
                </a:solidFill>
              </a:rPr>
              <a:t>Nyatakan alatan dan perkakasan pengujian dengan terperinci [56, 57].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Kaedah Pengujian: </a:t>
            </a:r>
            <a:r>
              <a:rPr>
                <a:solidFill>
                  <a:srgbClr val="2A2D34"/>
                </a:solidFill>
              </a:rPr>
              <a:t>Terangkan prosedur penentu ukuran (calibration) dan parameter [56, 57].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Langkah Keselamatan: </a:t>
            </a:r>
            <a:r>
              <a:rPr>
                <a:solidFill>
                  <a:srgbClr val="2A2D34"/>
                </a:solidFill>
              </a:rPr>
              <a:t>Prosedur keselamatan dan pencegahan kemalangan semasa ujikaji [57].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Dapatan &amp; Analisis: </a:t>
            </a:r>
            <a:r>
              <a:rPr>
                <a:solidFill>
                  <a:srgbClr val="2A2D34"/>
                </a:solidFill>
              </a:rPr>
              <a:t>Pembentangan keputusan (jadual, rajah, graf) selari dengan persoalan kajian [57, 58].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Membaikpulih: </a:t>
            </a:r>
            <a:r>
              <a:rPr>
                <a:solidFill>
                  <a:srgbClr val="2A2D34"/>
                </a:solidFill>
              </a:rPr>
              <a:t>Catat proses membaikpulih dan pelan penyelenggaraan yang dijalankan [57].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BAB 5: Perbincangan &amp; Cadangan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Rumusan Projek: </a:t>
            </a:r>
            <a:r>
              <a:rPr>
                <a:solidFill>
                  <a:srgbClr val="2A2D34"/>
                </a:solidFill>
              </a:rPr>
              <a:t>Merumuskan projek secara keseluruhan dan menilai pencapaian objektif [59].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Perbincangan Hasil: </a:t>
            </a:r>
            <a:r>
              <a:rPr>
                <a:solidFill>
                  <a:srgbClr val="2A2D34"/>
                </a:solidFill>
              </a:rPr>
              <a:t>Sokongan hujah dan interpretasi data berbanding hasil kajian lepas [59, 132].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Kelemahan &amp; Kelebihan: </a:t>
            </a:r>
            <a:r>
              <a:rPr>
                <a:solidFill>
                  <a:srgbClr val="2A2D34"/>
                </a:solidFill>
              </a:rPr>
              <a:t>Mengenal pasti limitasi reka bentuk dan kelebihan inovasi yang dicipta [59].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Syor &amp; Cadangan: </a:t>
            </a:r>
            <a:r>
              <a:rPr>
                <a:solidFill>
                  <a:srgbClr val="2A2D34"/>
                </a:solidFill>
              </a:rPr>
              <a:t>Mengemukakan syor dan langkah penambahbaikan untuk upgrade masa hadapan [25, 59].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STRUKTUR: Abstrak Projek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Ringkasan Padat: </a:t>
            </a:r>
            <a:r>
              <a:rPr>
                <a:solidFill>
                  <a:srgbClr val="2A2D34"/>
                </a:solidFill>
              </a:rPr>
              <a:t>Satu perenggan ringkas yang menggambarkan keseluruhan laporan PTA [38].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Panjang Abstrak: </a:t>
            </a:r>
            <a:r>
              <a:rPr>
                <a:solidFill>
                  <a:srgbClr val="2A2D34"/>
                </a:solidFill>
              </a:rPr>
              <a:t>Maksimum 300 patah perkataan dan dimuatkan dalam 1 muka surat sahaja [38].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Dua Versi Bahasa: </a:t>
            </a:r>
            <a:r>
              <a:rPr>
                <a:solidFill>
                  <a:srgbClr val="2A2D34"/>
                </a:solidFill>
              </a:rPr>
              <a:t>Wajib disediakan dalam Bahasa Melayu dan diikuti versi Bahasa Inggeris (Abstract) [38].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Kandungan Wajib: </a:t>
            </a:r>
            <a:r>
              <a:rPr>
                <a:solidFill>
                  <a:srgbClr val="2A2D34"/>
                </a:solidFill>
              </a:rPr>
              <a:t>Mengandungi latar belakang, penyataan masalah, metodologi, keputusan, dan kesimpulan [39, 40].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Tetapan MS Word Menetapkan Margin 4.0 cm untuk Jilid &amp; Langkau 1.5 Baris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Tetapan Ruang Tepi Muka Surat (Page Setup)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Margin Kiri (Left Margin): </a:t>
            </a:r>
            <a:r>
              <a:rPr>
                <a:solidFill>
                  <a:srgbClr val="2A2D34"/>
                </a:solidFill>
              </a:rPr>
              <a:t>4.0 cm (40mm) untuk memberi ruang jilid (binding) agar teks tidak tenggelam [65, 140].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Margin Atas (Top Margin): </a:t>
            </a:r>
            <a:r>
              <a:rPr>
                <a:solidFill>
                  <a:srgbClr val="2A2D34"/>
                </a:solidFill>
              </a:rPr>
              <a:t>2.5 cm (25mm) [65, 140].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Margin Bawah (Bottom Margin): </a:t>
            </a:r>
            <a:r>
              <a:rPr>
                <a:solidFill>
                  <a:srgbClr val="2A2D34"/>
                </a:solidFill>
              </a:rPr>
              <a:t>2.5 cm (25mm) [65, 140].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Margin Kanan (Right Margin): </a:t>
            </a:r>
            <a:r>
              <a:rPr>
                <a:solidFill>
                  <a:srgbClr val="2A2D34"/>
                </a:solidFill>
              </a:rPr>
              <a:t>2.5 cm (25mm) [65, 140].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Orientasi Kertas: </a:t>
            </a:r>
            <a:r>
              <a:rPr>
                <a:solidFill>
                  <a:srgbClr val="2A2D34"/>
                </a:solidFill>
              </a:rPr>
              <a:t>Standard Portrait [140]. Pertukaran ke Landscape dibenarkan khusus bagi rajah/jadual bersaiz besar [141, 142].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Tipografi &amp; Tetapan Teks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Jenis Huruf (Font Family): </a:t>
            </a:r>
            <a:r>
              <a:rPr>
                <a:solidFill>
                  <a:srgbClr val="2A2D34"/>
                </a:solidFill>
              </a:rPr>
              <a:t>Menggunakan tulisan jenis Arial sahaja [33, 66].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Saiz Huruf (Font Size): </a:t>
            </a:r>
            <a:r>
              <a:rPr>
                <a:solidFill>
                  <a:srgbClr val="2A2D34"/>
                </a:solidFill>
              </a:rPr>
              <a:t>Saiz 11 bagi keseluruhan teks laporan [33, 66].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Jarak Baris (Line Spacing): </a:t>
            </a:r>
            <a:r>
              <a:rPr>
                <a:solidFill>
                  <a:srgbClr val="2A2D34"/>
                </a:solidFill>
              </a:rPr>
              <a:t>1.5 Spacing (Paragraph) [33, 66, 141]. Jadual/ilustrasi dibenarkan menggunakan single spacing [66].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Penjajaran Teks (Alignment): </a:t>
            </a:r>
            <a:r>
              <a:rPr>
                <a:solidFill>
                  <a:srgbClr val="2A2D34"/>
                </a:solidFill>
              </a:rPr>
              <a:t>Menggunakan tetapan Justify untuk kekemasan [66].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Nombor Muka Surat: </a:t>
            </a:r>
            <a:r>
              <a:rPr>
                <a:solidFill>
                  <a:srgbClr val="2A2D34"/>
                </a:solidFill>
              </a:rPr>
              <a:t>Diletakkan di bahagian bawah penjuru sebelah kanan (Plain Number 3) [66, 67, 141].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Penjilidan Hard Cover Menggunakan Kulit Biru Gelap &amp; Tulisan Emas 18 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Spesifikasi Fizikal Laporan 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Jenis Jilid (Binding Type): </a:t>
            </a:r>
            <a:r>
              <a:rPr>
                <a:solidFill>
                  <a:srgbClr val="2A2D34"/>
                </a:solidFill>
              </a:rPr>
              <a:t>Laporan akhir wajib dijilid menggunakan Buku Kulit Keras (Hard Cover) [22, 62].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Warna Kulit Laporan: </a:t>
            </a:r>
            <a:r>
              <a:rPr>
                <a:solidFill>
                  <a:srgbClr val="2A2D34"/>
                </a:solidFill>
              </a:rPr>
              <a:t>Biru Gelap (Dark Blue) bagi semua program di Kolej Vokasional [37, 64].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Warna Tulisan Kulit Depan: </a:t>
            </a:r>
            <a:r>
              <a:rPr>
                <a:solidFill>
                  <a:srgbClr val="2A2D34"/>
                </a:solidFill>
              </a:rPr>
              <a:t>Tulisan berwarna Emas (Gold) [64, 102].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Kertas Laporan: </a:t>
            </a:r>
            <a:r>
              <a:rPr>
                <a:solidFill>
                  <a:srgbClr val="2A2D34"/>
                </a:solidFill>
              </a:rPr>
              <a:t>Kertas berwarna putih bersaiz A4 dengan ketebalan 80 gram [65].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Had Bilangan Muka Surat: </a:t>
            </a:r>
            <a:r>
              <a:rPr>
                <a:solidFill>
                  <a:srgbClr val="2A2D34"/>
                </a:solidFill>
              </a:rPr>
              <a:t>Minima 20 muka surat dan maksima 50 muka surat [62].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Bahasa Laporan: </a:t>
            </a:r>
            <a:r>
              <a:rPr>
                <a:solidFill>
                  <a:srgbClr val="2A2D34"/>
                </a:solidFill>
              </a:rPr>
              <a:t>Ditulis dalam Bahasa Melayu penuh atau Bahasa Inggeris penuh secara konsisten [63].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Format Kulit Muka Depan (Gold Lettering)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Saiz Huruf Kulit Depan: </a:t>
            </a:r>
            <a:r>
              <a:rPr>
                <a:solidFill>
                  <a:srgbClr val="2A2D34"/>
                </a:solidFill>
              </a:rPr>
              <a:t>18 pt, Bold, Huruf Besar, Single Spacing [102, 103].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Butiran Wajib Kulit Depan: </a:t>
            </a:r>
            <a:r>
              <a:rPr>
                <a:solidFill>
                  <a:srgbClr val="2A2D34"/>
                </a:solidFill>
              </a:rPr>
              <a:t>Mengandungi butiran lengkap berikut [64, 102, 103]:</a:t>
            </a:r>
          </a:p>
          <a:p>
            <a:pPr>
              <a:spcAft>
                <a:spcPts val="600"/>
              </a:spcAft>
              <a:defRPr sz="1100">
                <a:solidFill>
                  <a:srgbClr val="2A2D34"/>
                </a:solidFill>
                <a:latin typeface="Arial"/>
              </a:defRPr>
            </a:pPr>
            <a:r>
              <a:t>    • TAJUK PROJEK (Huruf Besar)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• NAMA PROGRAM / DIPLOMA (Contoh: </a:t>
            </a:r>
            <a:r>
              <a:rPr>
                <a:solidFill>
                  <a:srgbClr val="2A2D34"/>
                </a:solidFill>
              </a:rPr>
              <a:t>DIPLOMA TEKNOLOGI ELEKTRONIK)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• NAMA KOLEJ VOKASIONAL (Contoh: </a:t>
            </a:r>
            <a:r>
              <a:rPr>
                <a:solidFill>
                  <a:srgbClr val="2A2D34"/>
                </a:solidFill>
              </a:rPr>
              <a:t>KOLEJ VOKASIONAL SERI ISKANDAR)</a:t>
            </a:r>
          </a:p>
          <a:p>
            <a:pPr>
              <a:spcAft>
                <a:spcPts val="600"/>
              </a:spcAft>
              <a:defRPr sz="1100">
                <a:solidFill>
                  <a:srgbClr val="2A2D34"/>
                </a:solidFill>
                <a:latin typeface="Arial"/>
              </a:defRPr>
            </a:pPr>
            <a:r>
              <a:t>    • NAMA PENULIS (Senaraikan nama semua ahli kumpulan)</a:t>
            </a:r>
          </a:p>
          <a:p>
            <a:pPr>
              <a:spcAft>
                <a:spcPts val="600"/>
              </a:spcAft>
              <a:defRPr sz="1100">
                <a:solidFill>
                  <a:srgbClr val="2A2D34"/>
                </a:solidFill>
                <a:latin typeface="Arial"/>
              </a:defRPr>
            </a:pPr>
            <a:r>
              <a:t>    • TAHUN TAMAT PENGAJIAN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Tulang Tepi Laporan: </a:t>
            </a:r>
            <a:r>
              <a:rPr>
                <a:solidFill>
                  <a:srgbClr val="2A2D34"/>
                </a:solidFill>
              </a:rPr>
              <a:t>Cetak tajuk projek, nama program, dan tahun tamat berwarna emas [64, 103].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Halaman Kosong: </a:t>
            </a:r>
            <a:r>
              <a:rPr>
                <a:solidFill>
                  <a:srgbClr val="2A2D34"/>
                </a:solidFill>
              </a:rPr>
              <a:t>Satu helaian kosong wajib mendahului halaman judul dan sebelum kulit belakang [64].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Arial"/>
              </a:defRPr>
            </a:pPr>
            <a:r>
              <a:t>PANDUAN FORMAT REPORT PTA DVM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Arial"/>
              </a:defRPr>
            </a:pPr>
            <a:r>
              <a:t>KANDUNGAN &amp; HASIL PEMBELAJARAN PANDUAN</a:t>
            </a:r>
          </a:p>
        </p:txBody>
      </p:sp>
      <p:sp>
        <p:nvSpPr>
          <p:cNvPr id="6" name="Right Triangle 5"/>
          <p:cNvSpPr/>
          <p:nvPr/>
        </p:nvSpPr>
        <p:spPr>
          <a:xfrm rot="10800000">
            <a:off x="11277295" y="0"/>
            <a:ext cx="914400" cy="100584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594360" cy="5943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Tetapan Asas Dokumen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Margin 4cm/2.5cm, saiz kertas A4 80gsm, jenis Arial 11pt, &amp; langkau 1.5 spacing.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04872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542032"/>
            <a:ext cx="594360" cy="59436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96312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Pengurusan Styles &amp; Headings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Penggunaan Heading 1, Heading 2, &amp; Navigation Pane untuk struktur Bab.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38144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3575304"/>
            <a:ext cx="594360" cy="5943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29584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Section Breaks &amp; Nombor Muka Surat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Memisahkan Penomboran Romani (i, ii) Bahagian Awal &amp; Angka (1, 2) Bab Utama.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71416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4608576"/>
            <a:ext cx="594360" cy="594360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62856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Captions Automatik &amp; Senarai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Insert Caption untuk Tajuk Jadual/Rajah &amp; penjanaan Isi Kandungan Automatik.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04688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5641848"/>
            <a:ext cx="594360" cy="5943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59612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59"/>
                </a:solidFill>
              </a:defRPr>
            </a:pPr>
            <a:r>
              <a:t>Pengurusan Rujukan Akademik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Integrasi perisian Mendeley &amp; Zotero untuk sitasi automatik gaya APA.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Pelajar Wajib Memperoleh Minima 40% Markah Keseluruhan untuk Lulus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Agihan Markah Pentaksiran Berterusan (PB 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B2A4A"/>
                </a:solidFill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Laporan Kertas Cadangan: </a:t>
            </a:r>
            <a:r>
              <a:rPr>
                <a:solidFill>
                  <a:srgbClr val="2A2D34"/>
                </a:solidFill>
              </a:rPr>
              <a:t>60% [73]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Pembentangan Kertas Cadangan: </a:t>
            </a:r>
            <a:r>
              <a:rPr>
                <a:solidFill>
                  <a:srgbClr val="2A2D34"/>
                </a:solidFill>
              </a:rPr>
              <a:t>25% [73]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Progres Projek &amp; Penulisan Bab 1-3: </a:t>
            </a:r>
            <a:r>
              <a:rPr>
                <a:solidFill>
                  <a:srgbClr val="2A2D34"/>
                </a:solidFill>
              </a:rPr>
              <a:t>10% [73]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Buku Log PTA 1: </a:t>
            </a:r>
            <a:r>
              <a:rPr>
                <a:solidFill>
                  <a:srgbClr val="2A2D34"/>
                </a:solidFill>
              </a:rPr>
              <a:t>5% [73]</a:t>
            </a:r>
          </a:p>
          <a:p>
            <a:pPr>
              <a:spcBef>
                <a:spcPts val="800"/>
              </a:spcBef>
            </a:pPr>
            <a:endParaRPr>
              <a:solidFill>
                <a:srgbClr val="2A2D34"/>
              </a:solidFill>
            </a:endParaRPr>
          </a:p>
          <a:p>
            <a:pPr>
              <a:spcAft>
                <a:spcPts val="400"/>
              </a:spcAft>
              <a:defRPr sz="1200" b="1">
                <a:solidFill>
                  <a:srgbClr val="1B2A4A"/>
                </a:solidFill>
                <a:latin typeface="Georgia"/>
              </a:defRPr>
            </a:pPr>
            <a:r>
              <a:t>Skema Pemarkahan Projek Tahun Akhir 2 (PTA 2) [74, 162]: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Laporan Laporan Penulisan: </a:t>
            </a:r>
            <a:r>
              <a:rPr>
                <a:solidFill>
                  <a:srgbClr val="2A2D34"/>
                </a:solidFill>
              </a:rPr>
              <a:t>45% [74]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Hasil Projek (Produk / Perisian / Kajian): </a:t>
            </a:r>
            <a:r>
              <a:rPr>
                <a:solidFill>
                  <a:srgbClr val="2A2D34"/>
                </a:solidFill>
              </a:rPr>
              <a:t>30% [74]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Pembentangan Projek Akhir: </a:t>
            </a:r>
            <a:r>
              <a:rPr>
                <a:solidFill>
                  <a:srgbClr val="2A2D34"/>
                </a:solidFill>
              </a:rPr>
              <a:t>20% [74]</a:t>
            </a:r>
          </a:p>
          <a:p>
            <a:pPr>
              <a:spcAft>
                <a:spcPts val="2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Buku Log PTA 2: </a:t>
            </a:r>
            <a:r>
              <a:rPr>
                <a:solidFill>
                  <a:srgbClr val="2A2D34"/>
                </a:solidFill>
              </a:rPr>
              <a:t>5% [74]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Syarat Kelulusan &amp; Graduasi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Kursus Wajib Lulus: </a:t>
            </a:r>
            <a:r>
              <a:rPr>
                <a:solidFill>
                  <a:srgbClr val="2A2D34"/>
                </a:solidFill>
              </a:rPr>
              <a:t>PTA merupakan kursus wajib dalam kurikulum DVM yang wajib dipenuhi bagi tujuan penganugerahan diploma [15, 108].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Markah Kelulusan Minima: </a:t>
            </a:r>
            <a:r>
              <a:rPr>
                <a:solidFill>
                  <a:srgbClr val="2A2D34"/>
                </a:solidFill>
              </a:rPr>
              <a:t>Calon wajib memperoleh sekurang-kurangnya 40% (Gred D+ / Nilai Gred 1.33) daripada markah keseluruhan untuk Lulus [75, 76].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Keputusan Akhir: </a:t>
            </a:r>
            <a:r>
              <a:rPr>
                <a:solidFill>
                  <a:srgbClr val="2A2D34"/>
                </a:solidFill>
              </a:rPr>
              <a:t>Keputusan muktamad diklasifikasikan sebagai Terampil (Lulus) atau Tidak Terampil (Gagal) [124, 138].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Peluang Mengulang: </a:t>
            </a:r>
            <a:r>
              <a:rPr>
                <a:solidFill>
                  <a:srgbClr val="2A2D34"/>
                </a:solidFill>
              </a:rPr>
              <a:t>Pelajar yang GAGAL PTA 2 dibenarkan menduduki ujian ulangan hanya sekali sahaja pada tahun pengajian semasa [76].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PTA </a:t>
            </a:r>
            <a:r>
              <a:rPr dirty="0" err="1"/>
              <a:t>Memenuhi</a:t>
            </a:r>
            <a:r>
              <a:rPr dirty="0"/>
              <a:t> Standard </a:t>
            </a:r>
            <a:r>
              <a:rPr dirty="0" err="1"/>
              <a:t>Akreditasi</a:t>
            </a:r>
            <a:r>
              <a:rPr dirty="0"/>
              <a:t> MQA &amp; MBOT di </a:t>
            </a:r>
            <a:r>
              <a:rPr dirty="0" err="1"/>
              <a:t>Peringkat</a:t>
            </a:r>
            <a:r>
              <a:rPr dirty="0"/>
              <a:t> Diploma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Garis Panduan Projek Tahun Akhir (PTA) Kolej Vokasional - KPM (Edisi 2023)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Pemenuhan Kriteria Akreditasi Agensi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Standard Akreditasi MQA: </a:t>
            </a:r>
            <a:r>
              <a:rPr>
                <a:solidFill>
                  <a:srgbClr val="2A2D34"/>
                </a:solidFill>
              </a:rPr>
              <a:t>Projek dibina dan dinilai untuk membuktikan pelajar menguasai Hasil Pembelajaran Program (PLO) yang disyaratkan [11, 78].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Pensijilan Teknologis MBOT: </a:t>
            </a:r>
            <a:r>
              <a:rPr>
                <a:solidFill>
                  <a:srgbClr val="2A2D34"/>
                </a:solidFill>
              </a:rPr>
              <a:t>Menyokong kelayakan pelajar sebagai Teknolog Bersekutu selepas bergraduat daripada Kolej Vokasional [15, 78].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Pengukuran Domain Bersepadu: </a:t>
            </a:r>
            <a:r>
              <a:rPr>
                <a:solidFill>
                  <a:srgbClr val="2A2D34"/>
                </a:solidFill>
              </a:rPr>
              <a:t>Menilai keupayaan pelajar menyelesaikan tugasan melalui pemetaan domain kognitif, psikomotor, dan afektif [11, 143, 145].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Kriteria Penting Penilaian: </a:t>
            </a:r>
            <a:r>
              <a:rPr>
                <a:solidFill>
                  <a:srgbClr val="2A2D34"/>
                </a:solidFill>
              </a:rPr>
              <a:t>Kebolehan menganalisis teori [143], mereka bentuk inovasi baharu [42, 77], mempraktikkan keselamatan bengkel [52, 57], dan membentang dengan yakin [10].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0000" dist="15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Georgia"/>
              </a:defRPr>
            </a:pPr>
            <a:r>
              <a:t>Pemetaan Hasil Pembelajaran (CLO &amp; PLO)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CLO 1: </a:t>
            </a:r>
            <a:r>
              <a:rPr>
                <a:solidFill>
                  <a:srgbClr val="2A2D34"/>
                </a:solidFill>
              </a:rPr>
              <a:t>Kemahiran Kognitif (C4, PLO3): Menganalisis teknologi sedia ada dan kajian terdahulu bagi menjana penyelesaian munasabah [145, 150].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CLO 2: </a:t>
            </a:r>
            <a:r>
              <a:rPr>
                <a:solidFill>
                  <a:srgbClr val="2A2D34"/>
                </a:solidFill>
              </a:rPr>
              <a:t>Kemahiran Praktikal (P5/P3, PLO2): Membina perancangan sistematik, menyusun metodologi reka bentuk, dan mempamerkan kemahiran bidang [145, 150, 158, 164].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CLO 3: </a:t>
            </a:r>
            <a:r>
              <a:rPr>
                <a:solidFill>
                  <a:srgbClr val="2A2D34"/>
                </a:solidFill>
              </a:rPr>
              <a:t>Kemahiran Komunikasi (A4/A2, PLO4): Melaksanakan pembentangan proposal dan hasil projek akhir yang berstruktur serta profesional [145, 151, 159, 164].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1B2A4A"/>
                </a:solidFill>
              </a:rPr>
              <a:t>Matlamat Utama: </a:t>
            </a:r>
            <a:r>
              <a:rPr>
                <a:solidFill>
                  <a:srgbClr val="2A2D34"/>
                </a:solidFill>
              </a:rPr>
              <a:t>Melahirkan tenaga kerja mahir, kompeten, kreatif, dan inovatif yang bersedia menyumbang kepada industri negara [9, 77].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6BB484-EA04-087C-818E-1E1E18AEFA25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/>
              <a:t>Persediaan Laporan Akhir </a:t>
            </a: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D114F-9DE4-D149-4F7F-E120BB1C8302}"/>
              </a:ext>
            </a:extLst>
          </p:cNvPr>
          <p:cNvSpPr txBox="1"/>
          <p:nvPr/>
        </p:nvSpPr>
        <p:spPr>
          <a:xfrm>
            <a:off x="3208865" y="1106117"/>
            <a:ext cx="5494868" cy="2954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US"/>
              <a:t>New Folder &lt;dir&gt;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US"/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US"/>
              <a:t>Copy template &lt;Template KV Segamat_BM_V1.1_APA_Sept2026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endParaRPr lang="en-US"/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US"/>
              <a:t>Save as &lt; your new file name&gt; on the same &lt;dir&gt;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851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9BE802-64F4-3A6E-37DF-0B99DD1879CA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28251-BBD5-AFD2-A4D6-75C3ECE0873F}"/>
              </a:ext>
            </a:extLst>
          </p:cNvPr>
          <p:cNvSpPr txBox="1"/>
          <p:nvPr/>
        </p:nvSpPr>
        <p:spPr>
          <a:xfrm>
            <a:off x="457200" y="852117"/>
            <a:ext cx="2599268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Microsoft </a:t>
            </a:r>
            <a:r>
              <a:rPr lang="en-MY" dirty="0" err="1"/>
              <a:t>Offce</a:t>
            </a:r>
            <a:br>
              <a:rPr lang="en-MY" dirty="0"/>
            </a:br>
            <a:r>
              <a:rPr lang="en-MY" dirty="0"/>
              <a:t>-File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-Option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7949B1-6FDD-7D8D-02AD-7860E6D54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0113"/>
            <a:ext cx="4594098" cy="46837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80FDFA-92E3-E063-C6FE-C38280B30E79}"/>
              </a:ext>
            </a:extLst>
          </p:cNvPr>
          <p:cNvSpPr txBox="1"/>
          <p:nvPr/>
        </p:nvSpPr>
        <p:spPr>
          <a:xfrm>
            <a:off x="5547595" y="852117"/>
            <a:ext cx="567920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-Advanced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-Text boxes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-Text boundaries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-shading</a:t>
            </a:r>
            <a:endParaRPr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AE79BF-5BEC-D319-1533-EA290CFA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504" y="2053246"/>
            <a:ext cx="5679206" cy="467889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6276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E3B7A-4D1D-4F34-6D70-D4335C59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2A475C-0765-45B2-313C-B62F4C212114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2E352-9D70-B94D-EC8A-C52C78A5751B}"/>
              </a:ext>
            </a:extLst>
          </p:cNvPr>
          <p:cNvSpPr txBox="1"/>
          <p:nvPr/>
        </p:nvSpPr>
        <p:spPr>
          <a:xfrm>
            <a:off x="457200" y="852117"/>
            <a:ext cx="42418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Quick access toolbar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-Show below the ribbon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EB9D08-981C-047A-6BC6-C7E824F51E4E}"/>
              </a:ext>
            </a:extLst>
          </p:cNvPr>
          <p:cNvSpPr txBox="1"/>
          <p:nvPr/>
        </p:nvSpPr>
        <p:spPr>
          <a:xfrm>
            <a:off x="7559942" y="817513"/>
            <a:ext cx="5679205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Customize Ribbon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sz="2000" dirty="0"/>
              <a:t>-Developer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22FC3-A25B-4DD9-F9B8-79EB5FA8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34"/>
          <a:stretch>
            <a:fillRect/>
          </a:stretch>
        </p:blipFill>
        <p:spPr>
          <a:xfrm>
            <a:off x="575733" y="1775447"/>
            <a:ext cx="3572142" cy="46856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D5BA1C-2FDC-FCF1-1181-962BA7594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733" y="1279178"/>
            <a:ext cx="4138585" cy="3429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4075F8-09DB-B6CA-C2F4-3548D6ADB4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652" b="26580"/>
          <a:stretch>
            <a:fillRect/>
          </a:stretch>
        </p:blipFill>
        <p:spPr>
          <a:xfrm>
            <a:off x="4893733" y="4913313"/>
            <a:ext cx="6966337" cy="16989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4283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159E-04FC-CDCD-4E25-7C6D5BB96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FE549A-8941-CC4F-D291-441EFE2A02D9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5A124F-DD16-7805-B281-967D4F2242C3}"/>
              </a:ext>
            </a:extLst>
          </p:cNvPr>
          <p:cNvSpPr txBox="1"/>
          <p:nvPr/>
        </p:nvSpPr>
        <p:spPr>
          <a:xfrm>
            <a:off x="457200" y="852117"/>
            <a:ext cx="4445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Quick access toolbar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-Add to quick access toolbar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3C70A4-B6F7-1977-E03C-B380DECDA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532" y="921914"/>
            <a:ext cx="5040485" cy="582919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0051EF-B075-16F2-F425-29F9D9E741D8}"/>
              </a:ext>
            </a:extLst>
          </p:cNvPr>
          <p:cNvSpPr txBox="1"/>
          <p:nvPr/>
        </p:nvSpPr>
        <p:spPr>
          <a:xfrm>
            <a:off x="330200" y="2237635"/>
            <a:ext cx="4445000" cy="406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-Document template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-Styles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Print preview &amp; Print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Insert Caption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Cross-reference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Navigation pane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Open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Clear formatting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Draw text box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dirty="0">
              <a:solidFill>
                <a:srgbClr val="FF0000"/>
              </a:solidFill>
            </a:endParaRP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726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D782-C49E-7177-5452-E09A0A64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9122C9-7548-67F2-1FFD-AC86CED71366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984DB-0633-050E-DAB2-F71E05A8ADAA}"/>
              </a:ext>
            </a:extLst>
          </p:cNvPr>
          <p:cNvSpPr txBox="1"/>
          <p:nvPr/>
        </p:nvSpPr>
        <p:spPr>
          <a:xfrm>
            <a:off x="457200" y="852117"/>
            <a:ext cx="4445000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Margin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Top : 2.5cm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Botton : 2.5cm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Left: 4cm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Right: 2.5cm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8E77F-7EB3-72F1-C3F3-697B26FF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904"/>
          <a:stretch>
            <a:fillRect/>
          </a:stretch>
        </p:blipFill>
        <p:spPr>
          <a:xfrm>
            <a:off x="5640802" y="888246"/>
            <a:ext cx="5281197" cy="53403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4453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B739C-DCE5-843D-985A-39D30CA6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6FBC55-3080-8F2C-071B-170628D2B05E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34FEA-EBA2-2E66-8740-D99D10918062}"/>
              </a:ext>
            </a:extLst>
          </p:cNvPr>
          <p:cNvSpPr txBox="1"/>
          <p:nvPr/>
        </p:nvSpPr>
        <p:spPr>
          <a:xfrm>
            <a:off x="457200" y="852117"/>
            <a:ext cx="4445000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Document template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-Attach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&lt;Template KV Segamat_BM_V1.1_APA_Sept2026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dirty="0"/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       Automatically update document style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1E166-DBF6-4D95-ABF3-5107F21E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135" y="969028"/>
            <a:ext cx="6162332" cy="54385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770AB6-EDB6-7FAC-FCA3-73056CAC0482}"/>
              </a:ext>
            </a:extLst>
          </p:cNvPr>
          <p:cNvSpPr txBox="1"/>
          <p:nvPr/>
        </p:nvSpPr>
        <p:spPr>
          <a:xfrm>
            <a:off x="605366" y="2904066"/>
            <a:ext cx="414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4000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1138779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4032-0C71-1B47-1B3F-D49B08A6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EE011E-A2AB-2C4C-A301-4C6166E99D25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 err="1"/>
              <a:t>Persediaan</a:t>
            </a:r>
            <a:r>
              <a:rPr lang="en-MY" dirty="0"/>
              <a:t> </a:t>
            </a:r>
            <a:r>
              <a:rPr lang="en-MY" dirty="0" err="1"/>
              <a:t>Laporan</a:t>
            </a:r>
            <a:r>
              <a:rPr lang="en-MY" dirty="0"/>
              <a:t> Akhir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49241-FE40-13DB-164D-43A840AFA2D7}"/>
              </a:ext>
            </a:extLst>
          </p:cNvPr>
          <p:cNvSpPr txBox="1"/>
          <p:nvPr/>
        </p:nvSpPr>
        <p:spPr>
          <a:xfrm>
            <a:off x="457200" y="852117"/>
            <a:ext cx="4445000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Document template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-Attach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&lt;Template KV Segamat_BM_V1.1_APA_Sept2026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dirty="0"/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       Automatically update document style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CDB78-0F85-07C4-15E0-30C7EDCD039E}"/>
              </a:ext>
            </a:extLst>
          </p:cNvPr>
          <p:cNvSpPr txBox="1"/>
          <p:nvPr/>
        </p:nvSpPr>
        <p:spPr>
          <a:xfrm>
            <a:off x="605366" y="2904066"/>
            <a:ext cx="414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4000" dirty="0"/>
              <a:t>✅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BC000-8062-8660-5EBB-90333B0D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366" y="1022299"/>
            <a:ext cx="6784446" cy="44714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1341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B0BF-510E-1A1E-9B3C-7286E3A0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A16D27-A4C9-17B9-E2F2-894B4728ECCA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References/</a:t>
            </a:r>
            <a:r>
              <a:rPr lang="en-MY" dirty="0" err="1"/>
              <a:t>Rujukan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FAE9D-9342-6A1C-B527-679C68A0085C}"/>
              </a:ext>
            </a:extLst>
          </p:cNvPr>
          <p:cNvSpPr txBox="1"/>
          <p:nvPr/>
        </p:nvSpPr>
        <p:spPr>
          <a:xfrm>
            <a:off x="457200" y="852117"/>
            <a:ext cx="4445000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Mendeley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-Install Mendeley 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Reference Manager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lang="en-MY" dirty="0"/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Install Mendeley Cite (Microsoft Word)</a:t>
            </a:r>
          </a:p>
          <a:p>
            <a:pPr marL="342900" indent="-342900" algn="ctr">
              <a:buFontTx/>
              <a:buChar char="-"/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Install Mendeley Web Importer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D6533-A7A8-37EE-7512-2037737E1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344"/>
          <a:stretch>
            <a:fillRect/>
          </a:stretch>
        </p:blipFill>
        <p:spPr>
          <a:xfrm>
            <a:off x="5172695" y="780069"/>
            <a:ext cx="5546105" cy="39224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038030-140E-8C21-D52A-C3F99C10C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747508"/>
            <a:ext cx="12192000" cy="18333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D145A2-4726-AB94-EA5A-3F8D456DB64E}"/>
              </a:ext>
            </a:extLst>
          </p:cNvPr>
          <p:cNvSpPr txBox="1"/>
          <p:nvPr/>
        </p:nvSpPr>
        <p:spPr>
          <a:xfrm>
            <a:off x="91440" y="3968168"/>
            <a:ext cx="4648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800" dirty="0"/>
              <a:t>https://www.mendeley.com/</a:t>
            </a:r>
          </a:p>
        </p:txBody>
      </p:sp>
    </p:spTree>
    <p:extLst>
      <p:ext uri="{BB962C8B-B14F-4D97-AF65-F5344CB8AC3E}">
        <p14:creationId xmlns:p14="http://schemas.microsoft.com/office/powerpoint/2010/main" val="2262897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93582-43E5-5103-F93E-65DD6172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FA2274-F0D2-3472-A558-E0158DD3C60E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References/</a:t>
            </a:r>
            <a:r>
              <a:rPr lang="en-MY" dirty="0" err="1"/>
              <a:t>Rujukan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5251A1-B172-0ECB-1BCD-2091B9471A6B}"/>
              </a:ext>
            </a:extLst>
          </p:cNvPr>
          <p:cNvSpPr txBox="1"/>
          <p:nvPr/>
        </p:nvSpPr>
        <p:spPr>
          <a:xfrm>
            <a:off x="457200" y="852117"/>
            <a:ext cx="4445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Format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99E87D-37CD-DB5A-8AD5-10717BEDC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9" y="3479980"/>
            <a:ext cx="7744764" cy="19167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8F04A4-3115-6CC7-5D47-2000301A8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17"/>
          <a:stretch>
            <a:fillRect/>
          </a:stretch>
        </p:blipFill>
        <p:spPr>
          <a:xfrm>
            <a:off x="8945332" y="59850"/>
            <a:ext cx="2687304" cy="34201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738937-4BC7-2AE0-1719-447BE20A2B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425"/>
          <a:stretch>
            <a:fillRect/>
          </a:stretch>
        </p:blipFill>
        <p:spPr>
          <a:xfrm>
            <a:off x="7980132" y="3105148"/>
            <a:ext cx="2687304" cy="36930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09C1CA-CE33-FF50-D883-FE90297511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92" t="9976" r="743" b="20677"/>
          <a:stretch>
            <a:fillRect/>
          </a:stretch>
        </p:blipFill>
        <p:spPr>
          <a:xfrm>
            <a:off x="263751" y="1348133"/>
            <a:ext cx="8335405" cy="172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05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8F998-66F1-734A-C26B-92427DB0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090662-47D7-46DF-BF7C-6C64341B86F7}"/>
              </a:ext>
            </a:extLst>
          </p:cNvPr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/>
              <a:t>References/</a:t>
            </a:r>
            <a:r>
              <a:rPr lang="en-MY" dirty="0" err="1"/>
              <a:t>Rujukan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C1A8F-7DCB-9E7D-A4E1-EB66BA428414}"/>
              </a:ext>
            </a:extLst>
          </p:cNvPr>
          <p:cNvSpPr txBox="1"/>
          <p:nvPr/>
        </p:nvSpPr>
        <p:spPr>
          <a:xfrm>
            <a:off x="457199" y="852117"/>
            <a:ext cx="6371617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lang="en-MY" dirty="0">
                <a:solidFill>
                  <a:srgbClr val="FF0000"/>
                </a:solidFill>
              </a:rPr>
              <a:t>Format (APA Style 7</a:t>
            </a:r>
            <a:r>
              <a:rPr lang="en-MY" baseline="30000" dirty="0">
                <a:solidFill>
                  <a:srgbClr val="FF0000"/>
                </a:solidFill>
              </a:rPr>
              <a:t>th</a:t>
            </a:r>
            <a:r>
              <a:rPr lang="en-MY" dirty="0">
                <a:solidFill>
                  <a:srgbClr val="FF0000"/>
                </a:solidFill>
              </a:rPr>
              <a:t>  edition)</a:t>
            </a:r>
          </a:p>
          <a:p>
            <a:pPr algn="ctr">
              <a:defRPr sz="24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844A76-C201-2AB6-DA18-C7257AE15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244244"/>
            <a:ext cx="6858000" cy="12096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EECB5A-3230-F074-3136-3104C3064122}"/>
              </a:ext>
            </a:extLst>
          </p:cNvPr>
          <p:cNvSpPr txBox="1"/>
          <p:nvPr/>
        </p:nvSpPr>
        <p:spPr>
          <a:xfrm>
            <a:off x="457200" y="1411601"/>
            <a:ext cx="8001000" cy="35958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indent="-304800" algn="just">
              <a:spcBef>
                <a:spcPts val="100"/>
              </a:spcBef>
              <a:spcAft>
                <a:spcPts val="600"/>
              </a:spcAft>
              <a:buNone/>
            </a:pPr>
            <a:r>
              <a:rPr lang="en-MY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Kasmeridis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I. K., &amp; Dimakopoulos, V. V. (2022). OpenMP 	Offloading in the Jetson Nano Platform. </a:t>
            </a:r>
            <a:r>
              <a:rPr lang="en-MY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Workshop 	Proceedings of the 51st International Conference on 	Parallel Processing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1–8. 	https://doi.org/10.1145/3547276.3548517</a:t>
            </a:r>
            <a:endParaRPr lang="en-MY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-304800" algn="just">
              <a:spcBef>
                <a:spcPts val="100"/>
              </a:spcBef>
              <a:spcAft>
                <a:spcPts val="600"/>
              </a:spcAft>
              <a:buNone/>
            </a:pPr>
            <a:r>
              <a:rPr lang="en-MY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Landscape, Terrain, Outdoors, Vista, Environment PNG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(n.d.). 	Retrieved August 	21, 2026, from 	https://www.pngmart.com/image/65486</a:t>
            </a:r>
            <a:endParaRPr lang="en-MY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-304800" algn="just">
              <a:spcBef>
                <a:spcPts val="100"/>
              </a:spcBef>
              <a:spcAft>
                <a:spcPts val="600"/>
              </a:spcAft>
              <a:buNone/>
            </a:pP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Lu, S., Lu, J., An, K., Wang, X., &amp; He, Q. (2023). Edge Computing 	on IoT for Machine 	Signal Processing and Fault Diagnosis: 	A Review. In </a:t>
            </a:r>
            <a:r>
              <a:rPr lang="en-MY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IEEE Internet of Things 	Journal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(Vol. 10, 	Number 13, pp. 11093–11116). Institute of Electrical and E	</a:t>
            </a:r>
            <a:r>
              <a:rPr lang="en-MY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lectronics</a:t>
            </a:r>
            <a:r>
              <a:rPr lang="en-MY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Engineers Inc. 	https://doi.org/10.1109/JIOT.2023.3239944</a:t>
            </a:r>
            <a:endParaRPr lang="en-MY" sz="1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501704-3686-D615-A095-2586FE1882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425"/>
          <a:stretch>
            <a:fillRect/>
          </a:stretch>
        </p:blipFill>
        <p:spPr>
          <a:xfrm>
            <a:off x="8593666" y="1411601"/>
            <a:ext cx="3500978" cy="481118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027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114</TotalTime>
  <Words>2811</Words>
  <Application>Microsoft Office PowerPoint</Application>
  <PresentationFormat>Widescreen</PresentationFormat>
  <Paragraphs>241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Roboto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MAHDZIR JAMIAAN</dc:creator>
  <cp:keywords/>
  <dc:description>generated using python-pptx</dc:description>
  <cp:lastModifiedBy>MAHDZIR JAMIAAN</cp:lastModifiedBy>
  <cp:revision>16</cp:revision>
  <dcterms:created xsi:type="dcterms:W3CDTF">2013-01-27T09:14:16Z</dcterms:created>
  <dcterms:modified xsi:type="dcterms:W3CDTF">2026-09-22T03:38:30Z</dcterms:modified>
  <cp:category/>
</cp:coreProperties>
</file>