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24"/>
  </p:notesMasterIdLst>
  <p:sldIdLst>
    <p:sldId id="276" r:id="rId2"/>
    <p:sldId id="340" r:id="rId3"/>
    <p:sldId id="257" r:id="rId4"/>
    <p:sldId id="258" r:id="rId5"/>
    <p:sldId id="259" r:id="rId6"/>
    <p:sldId id="260" r:id="rId7"/>
    <p:sldId id="261" r:id="rId8"/>
    <p:sldId id="262" r:id="rId9"/>
    <p:sldId id="343" r:id="rId10"/>
    <p:sldId id="341" r:id="rId11"/>
    <p:sldId id="264" r:id="rId12"/>
    <p:sldId id="342" r:id="rId13"/>
    <p:sldId id="267" r:id="rId14"/>
    <p:sldId id="266" r:id="rId15"/>
    <p:sldId id="268" r:id="rId16"/>
    <p:sldId id="269" r:id="rId17"/>
    <p:sldId id="270" r:id="rId18"/>
    <p:sldId id="271" r:id="rId19"/>
    <p:sldId id="272" r:id="rId20"/>
    <p:sldId id="274" r:id="rId21"/>
    <p:sldId id="273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22/9/2026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MY" dirty="0"/>
              <a:t>“Initial time series analysis has been conducted”</a:t>
            </a:r>
          </a:p>
          <a:p>
            <a:r>
              <a:rPr lang="en-MY" dirty="0"/>
              <a:t>“System development has been completed”</a:t>
            </a:r>
          </a:p>
          <a:p>
            <a:r>
              <a:rPr lang="en-MY" dirty="0"/>
              <a:t>“Data acquisition is ongoing”</a:t>
            </a:r>
          </a:p>
          <a:p>
            <a:r>
              <a:rPr lang="en-MY" dirty="0"/>
              <a:t>“Machine learning models are currently being evaluated”</a:t>
            </a: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692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0433-1BA4-AB8D-6797-5C22B01F8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34F1FB-720B-F974-EC78-9E4EB2DD6EA6}"/>
              </a:ext>
            </a:extLst>
          </p:cNvPr>
          <p:cNvSpPr/>
          <p:nvPr/>
        </p:nvSpPr>
        <p:spPr>
          <a:xfrm>
            <a:off x="113122" y="952107"/>
            <a:ext cx="11972041" cy="1140644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softEdge rad="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48BE30B-CC18-DEA7-CA1A-0557A0C377BD}"/>
              </a:ext>
            </a:extLst>
          </p:cNvPr>
          <p:cNvSpPr/>
          <p:nvPr/>
        </p:nvSpPr>
        <p:spPr>
          <a:xfrm>
            <a:off x="226244" y="1055801"/>
            <a:ext cx="2300140" cy="914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EE5D2D-FB88-0C01-E85E-A52CB91ADC0C}"/>
              </a:ext>
            </a:extLst>
          </p:cNvPr>
          <p:cNvSpPr txBox="1"/>
          <p:nvPr/>
        </p:nvSpPr>
        <p:spPr>
          <a:xfrm>
            <a:off x="5030772" y="1045375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E30F12-DBD0-4FAA-4040-44A3BB603811}"/>
              </a:ext>
            </a:extLst>
          </p:cNvPr>
          <p:cNvSpPr txBox="1"/>
          <p:nvPr/>
        </p:nvSpPr>
        <p:spPr>
          <a:xfrm>
            <a:off x="7378045" y="1246646"/>
            <a:ext cx="2155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8E2F23-A61B-C7DA-BCDA-3AAB57BD1E93}"/>
              </a:ext>
            </a:extLst>
          </p:cNvPr>
          <p:cNvSpPr txBox="1"/>
          <p:nvPr/>
        </p:nvSpPr>
        <p:spPr>
          <a:xfrm>
            <a:off x="9810161" y="1073653"/>
            <a:ext cx="2155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 OF STUDY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99FECE-47C7-DCFC-83BA-A371A7329CC3}"/>
              </a:ext>
            </a:extLst>
          </p:cNvPr>
          <p:cNvSpPr txBox="1"/>
          <p:nvPr/>
        </p:nvSpPr>
        <p:spPr>
          <a:xfrm>
            <a:off x="2613582" y="1104430"/>
            <a:ext cx="224515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BACKGROUND STUDY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833165-67BD-AAAD-F194-F3EC8274A261}"/>
              </a:ext>
            </a:extLst>
          </p:cNvPr>
          <p:cNvSpPr txBox="1"/>
          <p:nvPr/>
        </p:nvSpPr>
        <p:spPr>
          <a:xfrm>
            <a:off x="238812" y="1073653"/>
            <a:ext cx="22553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ISI KANDUNGAN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540BD3-4DF9-D8E4-C182-83DFE447B57E}"/>
              </a:ext>
            </a:extLst>
          </p:cNvPr>
          <p:cNvSpPr txBox="1"/>
          <p:nvPr/>
        </p:nvSpPr>
        <p:spPr>
          <a:xfrm>
            <a:off x="238812" y="2380045"/>
            <a:ext cx="1030321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1.0 Progress (Progress update (Gaps  and contribution)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a) Multivariate Real Time Series Anomaly Detection   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(MRAD) – adaptive threshold (AT)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b) Data smoothing / Rolling windows (data cleaning)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c) LSTM-AE Machine learning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MY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56D11-F3A4-261C-8E3C-836F0637BCD8}"/>
              </a:ext>
            </a:extLst>
          </p:cNvPr>
          <p:cNvSpPr txBox="1"/>
          <p:nvPr/>
        </p:nvSpPr>
        <p:spPr>
          <a:xfrm>
            <a:off x="69654" y="4990141"/>
            <a:ext cx="7755260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2.0 Future Planning (paper publication)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B350E-659E-7521-F807-8160DF4B1659}"/>
              </a:ext>
            </a:extLst>
          </p:cNvPr>
          <p:cNvSpPr txBox="1"/>
          <p:nvPr/>
        </p:nvSpPr>
        <p:spPr>
          <a:xfrm>
            <a:off x="69654" y="5612244"/>
            <a:ext cx="7229229" cy="587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MY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3.0 Q&amp;A and  Discussion</a:t>
            </a:r>
          </a:p>
        </p:txBody>
      </p:sp>
    </p:spTree>
    <p:extLst>
      <p:ext uri="{BB962C8B-B14F-4D97-AF65-F5344CB8AC3E}">
        <p14:creationId xmlns:p14="http://schemas.microsoft.com/office/powerpoint/2010/main" val="421627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Penulisan Formal Menterjemah Inovasi Praktikal ke Standard Akademik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Kepentingan Laporan 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Penterjemahan Kemahiran Teknikal: </a:t>
            </a:r>
            <a:r>
              <a:rPr>
                <a:solidFill>
                  <a:srgbClr val="2A2D34"/>
                </a:solidFill>
              </a:rPr>
              <a:t>Menilai keupayaan pelajar menterjemah projek fizikal, perisian atau kajian sosial ke dalam bentuk penulisan akademik yang formal [11, 15, 22].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Kemahiran Abad ke-21: </a:t>
            </a:r>
            <a:r>
              <a:rPr>
                <a:solidFill>
                  <a:srgbClr val="2A2D34"/>
                </a:solidFill>
              </a:rPr>
              <a:t>Melatih pelajar berfikir secara kritis, mengurus masa, menganalisis data, mengira kos, dan berkomunikasi dengan berkesan [10, 11, 17].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Penyelesaian Masalah Industri: </a:t>
            </a:r>
            <a:r>
              <a:rPr>
                <a:solidFill>
                  <a:srgbClr val="2A2D34"/>
                </a:solidFill>
              </a:rPr>
              <a:t>Membuktikan kebolehan pelajar menangani masalah sebenar berlandaskan teori kejuruteraan dan teknologi terkini [11, 23, 143].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Eviden Kelayakan Professional: </a:t>
            </a:r>
            <a:r>
              <a:rPr>
                <a:solidFill>
                  <a:srgbClr val="2A2D34"/>
                </a:solidFill>
              </a:rPr>
              <a:t>Memenuhi kehendak Lembaga Akreditasi (MQA &amp; MBOT) untuk membuktikan pencapaian Hasil Pembelajaran Program (PLO) [11, 78].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Integriti Akademik &amp; Larangan Keras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Larangan Plagiat: </a:t>
            </a:r>
            <a:r>
              <a:rPr>
                <a:solidFill>
                  <a:srgbClr val="2A2D34"/>
                </a:solidFill>
              </a:rPr>
              <a:t>Amalan memetik bahan (ayat, perenggan, atau idea) dari sumber luar tanpa menyatakan sumber rujukan asal mengikut format APA [26].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Larangan Ciplak: </a:t>
            </a:r>
            <a:r>
              <a:rPr>
                <a:solidFill>
                  <a:srgbClr val="2A2D34"/>
                </a:solidFill>
              </a:rPr>
              <a:t>Meniru keseluruhan atau sebahagian besar projek pihak lain secara tidak sah, lalu menuntutnya sebagai hak milik sendiri [27].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Larangan Outsourcing: </a:t>
            </a:r>
            <a:r>
              <a:rPr>
                <a:solidFill>
                  <a:srgbClr val="2A2D34"/>
                </a:solidFill>
              </a:rPr>
              <a:t>Mengupah atau meminta bantuan pihak luar (vendor, agen, atau individu lain) untuk membina projek atau menulis laporan [27].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D62828"/>
                </a:solidFill>
              </a:rPr>
              <a:t>TINDAKAN MAKSIMUM: Jika dikesan melakukan plagiat, ciplak, atau outsourcing, Kolej Vokasional (PPT) berhak mengenakan tindakan serta-merta dan MENGGAGALKAN PTA tersebut [26, 28].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Pelaksanaan Projek Meliputi PTA 1 &amp; PTA 2 Sepanjang Dua Semester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8640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PTA 1 (Semester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KOD DMA 3062 | 2 UNIT KREDIT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Penyediaan Kertas Cadangan: </a:t>
            </a:r>
            <a:r>
              <a:rPr>
                <a:solidFill>
                  <a:srgbClr val="2A2D34"/>
                </a:solidFill>
              </a:rPr>
              <a:t>Fokus utama kepada penyusunan proposal [20].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Sesi Pembentangan: </a:t>
            </a:r>
            <a:r>
              <a:rPr>
                <a:solidFill>
                  <a:srgbClr val="2A2D34"/>
                </a:solidFill>
              </a:rPr>
              <a:t>Membentangkan kertas cadangan kepada Penyelia Projek [20].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Mula Menulis Laporan: </a:t>
            </a:r>
            <a:r>
              <a:rPr>
                <a:solidFill>
                  <a:srgbClr val="2A2D34"/>
                </a:solidFill>
              </a:rPr>
              <a:t>Menulis draf Bab 1 (Pengenalan), Bab 2 (Literatur), &amp; Bab 3 (Metodologi) [20].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Kemajuan Minimum: </a:t>
            </a:r>
            <a:r>
              <a:rPr>
                <a:solidFill>
                  <a:srgbClr val="2A2D34"/>
                </a:solidFill>
              </a:rPr>
              <a:t>Mencapai kemajuan projek sekurang-kurangnya 30% [124].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Prasyarat Lulus: </a:t>
            </a:r>
            <a:r>
              <a:rPr>
                <a:solidFill>
                  <a:srgbClr val="2A2D34"/>
                </a:solidFill>
              </a:rPr>
              <a:t>Wajib Lulus PTA 1 sebelum dibenarkan mendaftar PTA 2 [20].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48640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PTA 2 (Semester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KOD DMA 4054 | 4 UNIT KREDIT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7744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Prasyarat Lulus: </a:t>
            </a:r>
            <a:r>
              <a:rPr>
                <a:solidFill>
                  <a:srgbClr val="2A2D34"/>
                </a:solidFill>
              </a:rPr>
              <a:t>Wajib Lulus kursus PTA 1 (DMA 3062) [158].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Pembangunan &amp; Pengujian: </a:t>
            </a:r>
            <a:r>
              <a:rPr>
                <a:solidFill>
                  <a:srgbClr val="2A2D34"/>
                </a:solidFill>
              </a:rPr>
              <a:t>Pembuatan dan pengujian penuh produk/perisian [21, 161].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Penyiapan Laporan: </a:t>
            </a:r>
            <a:r>
              <a:rPr>
                <a:solidFill>
                  <a:srgbClr val="2A2D34"/>
                </a:solidFill>
              </a:rPr>
              <a:t>Menyelesaikan penulisan laporan akhir Bab 4 &amp; Bab 5 [21].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Semakan Tatabahasa: </a:t>
            </a:r>
            <a:r>
              <a:rPr>
                <a:solidFill>
                  <a:srgbClr val="2A2D34"/>
                </a:solidFill>
              </a:rPr>
              <a:t>Laporan disemak oleh Proof Reader sebelum dinilai [16, 17].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Pembentangan &amp; Demonstrasi: </a:t>
            </a:r>
            <a:r>
              <a:rPr>
                <a:solidFill>
                  <a:srgbClr val="2A2D34"/>
                </a:solidFill>
              </a:rPr>
              <a:t>Pembentangan akhir bersama demonstrasi projek [21, 70].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1-3 Membina Landasan Kajian Melalui Pengenalan, Literatur, dan Metodologi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1: Pengenalan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Pengenalan Projek: </a:t>
            </a:r>
            <a:r>
              <a:rPr>
                <a:solidFill>
                  <a:srgbClr val="2A2D34"/>
                </a:solidFill>
              </a:rPr>
              <a:t>Gambaran keseluruhan kajian, inovasi, dan perancangan [41, 42].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Latar Belakang: </a:t>
            </a:r>
            <a:r>
              <a:rPr>
                <a:solidFill>
                  <a:srgbClr val="2A2D34"/>
                </a:solidFill>
              </a:rPr>
              <a:t>Penerangan bagaimana idea asal tercetus beserta suasana masalah [42].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Pernyataan Masalah: </a:t>
            </a:r>
            <a:r>
              <a:rPr>
                <a:solidFill>
                  <a:srgbClr val="2A2D34"/>
                </a:solidFill>
              </a:rPr>
              <a:t>Keadaan sebenar yang dihadapi yang mencetuskan keperluan inovasi [42].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Objektif Projek: </a:t>
            </a:r>
            <a:r>
              <a:rPr>
                <a:solidFill>
                  <a:srgbClr val="2A2D34"/>
                </a:solidFill>
              </a:rPr>
              <a:t>Sasaran projek yang spesifik, ringkas, boleh diukur, dan dicapai [43].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Skop Projek: </a:t>
            </a:r>
            <a:r>
              <a:rPr>
                <a:solidFill>
                  <a:srgbClr val="2A2D34"/>
                </a:solidFill>
              </a:rPr>
              <a:t>Limitasi, dimensi, saiz, sasaran pengguna, dan had keupayaan [45, 46].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Ulasan Kajian Lepas: </a:t>
            </a:r>
            <a:r>
              <a:rPr>
                <a:solidFill>
                  <a:srgbClr val="2A2D34"/>
                </a:solidFill>
              </a:rPr>
              <a:t>Huraian kajian-kajian terdahulu yang berkait dengan pembolehubah projek [47].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Asas Pengetahuan: </a:t>
            </a:r>
            <a:r>
              <a:rPr>
                <a:solidFill>
                  <a:srgbClr val="2A2D34"/>
                </a:solidFill>
              </a:rPr>
              <a:t>Mengulas teori, konsep, hipotesis, dan maklumat komponen yang akan digunapakai [48].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Justifikasi Kepentingan: </a:t>
            </a:r>
            <a:r>
              <a:rPr>
                <a:solidFill>
                  <a:srgbClr val="2A2D34"/>
                </a:solidFill>
              </a:rPr>
              <a:t>Menjelaskan mengapa projek perlu dilaksanakan berbanding rekaan sedia ada [49, 50].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Rujukan Teks: </a:t>
            </a:r>
            <a:r>
              <a:rPr>
                <a:solidFill>
                  <a:srgbClr val="2A2D34"/>
                </a:solidFill>
              </a:rPr>
              <a:t>Memetik sumber ilmiah secara konsisten mengikut sistem rujukan APA [47, 51, 60].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3: Metodologi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Konsep Reka Bentuk: </a:t>
            </a:r>
            <a:r>
              <a:rPr>
                <a:solidFill>
                  <a:srgbClr val="2A2D34"/>
                </a:solidFill>
              </a:rPr>
              <a:t>Menerangkan saiz, bahan mentah, komponen, fungsi, dan reka bentuk 2D/3D [52, 53].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Proses Pembuatan: </a:t>
            </a:r>
            <a:r>
              <a:rPr>
                <a:solidFill>
                  <a:srgbClr val="2A2D34"/>
                </a:solidFill>
              </a:rPr>
              <a:t>Aliran proses kerja (Carta Alir) dan teknik pengukuran/pembuatan [53, 54].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Anggaran Kos: </a:t>
            </a:r>
            <a:r>
              <a:rPr>
                <a:solidFill>
                  <a:srgbClr val="2A2D34"/>
                </a:solidFill>
              </a:rPr>
              <a:t>Kos bahan mentah, buruh, utiliti, dan pengiraan kos keseluruhan [53, 54].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Perancangan Projek: </a:t>
            </a:r>
            <a:r>
              <a:rPr>
                <a:solidFill>
                  <a:srgbClr val="2A2D34"/>
                </a:solidFill>
              </a:rPr>
              <a:t>Carta Gantt mingguan untuk membandingkan perancangan vs pelaksanaan [55, 56].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Bab 4-5 dan Abstrak Merumuskan Dapatan, Analisis, serta Impak Projek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4: Dapatan &amp; Analisis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Senarai Alatan Pengujian: </a:t>
            </a:r>
            <a:r>
              <a:rPr>
                <a:solidFill>
                  <a:srgbClr val="2A2D34"/>
                </a:solidFill>
              </a:rPr>
              <a:t>Nyatakan alatan dan perkakasan pengujian dengan terperinci [56, 57].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Kaedah Pengujian: </a:t>
            </a:r>
            <a:r>
              <a:rPr>
                <a:solidFill>
                  <a:srgbClr val="2A2D34"/>
                </a:solidFill>
              </a:rPr>
              <a:t>Terangkan prosedur penentu ukuran (calibration) dan parameter [56, 57].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Langkah Keselamatan: </a:t>
            </a:r>
            <a:r>
              <a:rPr>
                <a:solidFill>
                  <a:srgbClr val="2A2D34"/>
                </a:solidFill>
              </a:rPr>
              <a:t>Prosedur keselamatan dan pencegahan kemalangan semasa ujikaji [57].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Dapatan &amp; Analisis: </a:t>
            </a:r>
            <a:r>
              <a:rPr>
                <a:solidFill>
                  <a:srgbClr val="2A2D34"/>
                </a:solidFill>
              </a:rPr>
              <a:t>Pembentangan keputusan (jadual, rajah, graf) selari dengan persoalan kajian [57, 58].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Membaikpulih: </a:t>
            </a:r>
            <a:r>
              <a:rPr>
                <a:solidFill>
                  <a:srgbClr val="2A2D34"/>
                </a:solidFill>
              </a:rPr>
              <a:t>Catat proses membaikpulih dan pelan penyelenggaraan yang dijalankan [57].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5: Perbincangan &amp; Cadangan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Rumusan Projek: </a:t>
            </a:r>
            <a:r>
              <a:rPr>
                <a:solidFill>
                  <a:srgbClr val="2A2D34"/>
                </a:solidFill>
              </a:rPr>
              <a:t>Merumuskan projek secara keseluruhan dan menilai pencapaian objektif [59].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Perbincangan Hasil: </a:t>
            </a:r>
            <a:r>
              <a:rPr>
                <a:solidFill>
                  <a:srgbClr val="2A2D34"/>
                </a:solidFill>
              </a:rPr>
              <a:t>Sokongan hujah dan interpretasi data berbanding hasil kajian lepas [59, 132].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Kelemahan &amp; Kelebihan: </a:t>
            </a:r>
            <a:r>
              <a:rPr>
                <a:solidFill>
                  <a:srgbClr val="2A2D34"/>
                </a:solidFill>
              </a:rPr>
              <a:t>Mengenal pasti limitasi reka bentuk dan kelebihan inovasi yang dicipta [59].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Syor &amp; Cadangan: </a:t>
            </a:r>
            <a:r>
              <a:rPr>
                <a:solidFill>
                  <a:srgbClr val="2A2D34"/>
                </a:solidFill>
              </a:rPr>
              <a:t>Mengemukakan syor dan langkah penambahbaikan untuk upgrade masa hadapan [25, 59].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Ringkasan Padat: </a:t>
            </a:r>
            <a:r>
              <a:rPr>
                <a:solidFill>
                  <a:srgbClr val="2A2D34"/>
                </a:solidFill>
              </a:rPr>
              <a:t>Satu perenggan ringkas yang menggambarkan keseluruhan laporan PTA [38].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Panjang Abstrak: </a:t>
            </a:r>
            <a:r>
              <a:rPr>
                <a:solidFill>
                  <a:srgbClr val="2A2D34"/>
                </a:solidFill>
              </a:rPr>
              <a:t>Maksimum 300 patah perkataan dan dimuatkan dalam 1 muka surat sahaja [38].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Dua Versi Bahasa: </a:t>
            </a:r>
            <a:r>
              <a:rPr>
                <a:solidFill>
                  <a:srgbClr val="2A2D34"/>
                </a:solidFill>
              </a:rPr>
              <a:t>Wajib disediakan dalam Bahasa Melayu dan diikuti versi Bahasa Inggeris (Abstract) [38].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Kandungan Wajib: </a:t>
            </a:r>
            <a:r>
              <a:rPr>
                <a:solidFill>
                  <a:srgbClr val="2A2D34"/>
                </a:solidFill>
              </a:rPr>
              <a:t>Mengandungi latar belakang, penyataan masalah, metodologi, keputusan, dan kesimpulan [39, 40].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Tetapan MS Word Menetapkan Margin 4.0 cm untuk Jilid &amp; Langkau 1.5 Baris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Tetapan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Margin Kiri (Left Margin): </a:t>
            </a:r>
            <a:r>
              <a:rPr>
                <a:solidFill>
                  <a:srgbClr val="2A2D34"/>
                </a:solidFill>
              </a:rPr>
              <a:t>4.0 cm (40mm) untuk memberi ruang jilid (binding) agar teks tidak tenggelam [65, 140].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Margin Atas (Top Margin): </a:t>
            </a:r>
            <a:r>
              <a:rPr>
                <a:solidFill>
                  <a:srgbClr val="2A2D34"/>
                </a:solidFill>
              </a:rPr>
              <a:t>2.5 cm (25mm) [65, 140].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Margin Bawah (Bottom Margin): </a:t>
            </a:r>
            <a:r>
              <a:rPr>
                <a:solidFill>
                  <a:srgbClr val="2A2D34"/>
                </a:solidFill>
              </a:rPr>
              <a:t>2.5 cm (25mm) [65, 140].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Margin Kanan (Right Margin): </a:t>
            </a:r>
            <a:r>
              <a:rPr>
                <a:solidFill>
                  <a:srgbClr val="2A2D34"/>
                </a:solidFill>
              </a:rPr>
              <a:t>2.5 cm (25mm) [65, 140].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Orientasi Kertas: </a:t>
            </a:r>
            <a:r>
              <a:rPr>
                <a:solidFill>
                  <a:srgbClr val="2A2D34"/>
                </a:solidFill>
              </a:rPr>
              <a:t>Standard Portrait [140]. Pertukaran ke Landscape dibenarkan khusus bagi rajah/jadual bersaiz besar [141, 142].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Tipografi &amp; Tetapan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Jenis Huruf (Font Family): </a:t>
            </a:r>
            <a:r>
              <a:rPr>
                <a:solidFill>
                  <a:srgbClr val="2A2D34"/>
                </a:solidFill>
              </a:rPr>
              <a:t>Menggunakan tulisan jenis Arial sahaja [33, 66].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Saiz Huruf (Font Size): </a:t>
            </a:r>
            <a:r>
              <a:rPr>
                <a:solidFill>
                  <a:srgbClr val="2A2D34"/>
                </a:solidFill>
              </a:rPr>
              <a:t>Saiz 11 bagi keseluruhan teks laporan [33, 66].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Jarak Baris (Line Spacing): </a:t>
            </a:r>
            <a:r>
              <a:rPr>
                <a:solidFill>
                  <a:srgbClr val="2A2D34"/>
                </a:solidFill>
              </a:rPr>
              <a:t>1.5 Spacing (Paragraph) [33, 66, 141]. Jadual/ilustrasi dibenarkan menggunakan single spacing [66].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Penjajaran Teks (Alignment): </a:t>
            </a:r>
            <a:r>
              <a:rPr>
                <a:solidFill>
                  <a:srgbClr val="2A2D34"/>
                </a:solidFill>
              </a:rPr>
              <a:t>Menggunakan tetapan Justify untuk kekemasan [66].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Nombor Muka Surat: </a:t>
            </a:r>
            <a:r>
              <a:rPr>
                <a:solidFill>
                  <a:srgbClr val="2A2D34"/>
                </a:solidFill>
              </a:rPr>
              <a:t>Diletakkan di bahagian bawah penjuru sebelah kanan (Plain Number 3) [66, 67, 141].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t>Penjilidan Hard Cover Menggunakan Kulit Biru Gelap &amp; Tulisan Emas 18 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t>Garis Panduan Projek Tahun Akhir (PTA) Kolej Vokasional - KPM (Edisi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Spesifikasi Fizikal Laporan 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Jenis Jilid (Binding Type): </a:t>
            </a:r>
            <a:r>
              <a:rPr>
                <a:solidFill>
                  <a:srgbClr val="2A2D34"/>
                </a:solidFill>
              </a:rPr>
              <a:t>Laporan akhir wajib dijilid menggunakan Buku Kulit Keras (Hard Cover) [22, 62].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Warna Kulit Laporan: </a:t>
            </a:r>
            <a:r>
              <a:rPr>
                <a:solidFill>
                  <a:srgbClr val="2A2D34"/>
                </a:solidFill>
              </a:rPr>
              <a:t>Biru Gelap (Dark Blue) bagi semua program di Kolej Vokasional [37, 64].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Warna Tulisan Kulit Depan: </a:t>
            </a:r>
            <a:r>
              <a:rPr>
                <a:solidFill>
                  <a:srgbClr val="2A2D34"/>
                </a:solidFill>
              </a:rPr>
              <a:t>Tulisan berwarna Emas (Gold) [64, 102].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Kertas Laporan: </a:t>
            </a:r>
            <a:r>
              <a:rPr>
                <a:solidFill>
                  <a:srgbClr val="2A2D34"/>
                </a:solidFill>
              </a:rPr>
              <a:t>Kertas berwarna putih bersaiz A4 dengan ketebalan 80 gram [65].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Had Bilangan Muka Surat: </a:t>
            </a:r>
            <a:r>
              <a:rPr>
                <a:solidFill>
                  <a:srgbClr val="2A2D34"/>
                </a:solidFill>
              </a:rPr>
              <a:t>Minima 20 muka surat dan maksima 50 muka surat [62].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Bahasa Laporan: </a:t>
            </a:r>
            <a:r>
              <a:rPr>
                <a:solidFill>
                  <a:srgbClr val="2A2D34"/>
                </a:solidFill>
              </a:rPr>
              <a:t>Ditulis dalam Bahasa Melayu penuh atau Bahasa Inggeris penuh secara konsisten [63].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Format Kulit Muka Depan (Gold Lettering)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Saiz Huruf Kulit Depan: </a:t>
            </a:r>
            <a:r>
              <a:rPr>
                <a:solidFill>
                  <a:srgbClr val="2A2D34"/>
                </a:solidFill>
              </a:rPr>
              <a:t>18 pt, Bold, Huruf Besar, Single Spacing [102, 103].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Butiran Wajib Kulit Depan: </a:t>
            </a:r>
            <a:r>
              <a:rPr>
                <a:solidFill>
                  <a:srgbClr val="2A2D34"/>
                </a:solidFill>
              </a:rPr>
              <a:t>Mengandungi butiran lengkap berikut [64, 102, 103]:</a:t>
            </a:r>
          </a:p>
          <a:p>
            <a:pPr>
              <a:spcAft>
                <a:spcPts val="600"/>
              </a:spcAft>
              <a:defRPr sz="1100">
                <a:solidFill>
                  <a:srgbClr val="2A2D34"/>
                </a:solidFill>
                <a:latin typeface="Arial"/>
              </a:defRPr>
            </a:pPr>
            <a:r>
              <a:t>    • TAJUK PROJEK (Huruf Besar)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• NAMA PROGRAM / DIPLOMA (Contoh: </a:t>
            </a:r>
            <a:r>
              <a:rPr>
                <a:solidFill>
                  <a:srgbClr val="2A2D34"/>
                </a:solidFill>
              </a:rPr>
              <a:t>DIPLOMA TEKNOLOGI ELEKTRONIK)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• NAMA KOLEJ VOKASIONAL (Contoh: </a:t>
            </a:r>
            <a:r>
              <a:rPr>
                <a:solidFill>
                  <a:srgbClr val="2A2D34"/>
                </a:solidFill>
              </a:rPr>
              <a:t>KOLEJ VOKASIONAL SERI ISKANDAR)</a:t>
            </a:r>
          </a:p>
          <a:p>
            <a:pPr>
              <a:spcAft>
                <a:spcPts val="600"/>
              </a:spcAft>
              <a:defRPr sz="1100">
                <a:solidFill>
                  <a:srgbClr val="2A2D34"/>
                </a:solidFill>
                <a:latin typeface="Arial"/>
              </a:defRPr>
            </a:pPr>
            <a:r>
              <a:t>    • NAMA PENULIS (Senaraikan nama semua ahli kumpulan)</a:t>
            </a:r>
          </a:p>
          <a:p>
            <a:pPr>
              <a:spcAft>
                <a:spcPts val="600"/>
              </a:spcAft>
              <a:defRPr sz="1100">
                <a:solidFill>
                  <a:srgbClr val="2A2D34"/>
                </a:solidFill>
                <a:latin typeface="Arial"/>
              </a:defRPr>
            </a:pPr>
            <a:r>
              <a:t>    • TAHUN TAMAT PENGAJIAN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Tulang Tepi Laporan: </a:t>
            </a:r>
            <a:r>
              <a:rPr>
                <a:solidFill>
                  <a:srgbClr val="2A2D34"/>
                </a:solidFill>
              </a:rPr>
              <a:t>Cetak tajuk projek, nama program, dan tahun tamat berwarna emas [64, 103].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rPr b="1">
                <a:solidFill>
                  <a:srgbClr val="1B2A4A"/>
                </a:solidFill>
              </a:rPr>
              <a:t>Halaman Kosong: </a:t>
            </a:r>
            <a:r>
              <a:rPr>
                <a:solidFill>
                  <a:srgbClr val="2A2D34"/>
                </a:solidFill>
              </a:rPr>
              <a:t>Satu helaian kosong wajib mendahului halaman judul dan sebelum kulit belakang [64].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01. TETAPAN ASAS DOKUMEN MS WORD (PAGE SETUP)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35FBF73-B37C-B694-056B-36E1C0F05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254" y="0"/>
            <a:ext cx="63894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KANDUNGAN &amp; HASIL PEMBELAJARAN PANDUAN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508760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Tetapan Asas Dokumen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Margin 4cm/2.5cm, saiz kertas A4 80gsm, jenis Arial 11pt, &amp; langkau 1.5 spacing.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04872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542032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9631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Styles &amp; Headings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Penggunaan Heading 1, Heading 2, &amp; Navigation Pane untuk struktur Bab.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38144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575304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9584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Section Breaks &amp; Nombor Muka Surat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Memisahkan Penomboran Romani (i, ii) Bahagian Awal &amp; Angka (1, 2) Bab Utama.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71416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68680" y="4608576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62856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Captions Automatik &amp; Senarai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Insert Caption untuk Tajuk Jadual/Rajah &amp; penjanaan Isi Kandungan Automatik.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04688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641848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96128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Rujukan Akademik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Integrasi perisian Mendeley &amp; Zotero untuk sitasi automatik gaya APA.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6BB484-EA04-087C-818E-1E1E18AEFA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/>
              <a:t>Persediaan Laporan Akhir </a:t>
            </a:r>
            <a:endParaRPr lang="en-MY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106117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New Folder &lt;dir&gt;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/>
              <a:t>Save as &lt; your new file name&gt; on the same &lt;dir&gt;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9BE802-64F4-3A6E-37DF-0B99DD1879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457200" y="852117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0113"/>
            <a:ext cx="4594098" cy="468376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5547595" y="852117"/>
            <a:ext cx="567920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2053246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2A475C-0765-45B2-313C-B62F4C212114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57200" y="852117"/>
            <a:ext cx="42418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575733" y="1775447"/>
            <a:ext cx="3572142" cy="468561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733" y="1279178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FE549A-8941-CC4F-D291-441EFE2A02D9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532" y="921914"/>
            <a:ext cx="5040485" cy="582919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330200" y="2237635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9122C9-7548-67F2-1FFD-AC86CED71366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457200" y="852117"/>
            <a:ext cx="4445000" cy="18466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Top : 2.5cm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Botton : 2.5cm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Left: 4cm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Right: 2.5cm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640802" y="888246"/>
            <a:ext cx="5281197" cy="534038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6FBC55-3080-8F2C-071B-170628D2B05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135" y="969028"/>
            <a:ext cx="6162332" cy="543854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EE011E-A2AB-2C4C-A301-4C6166E99D25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 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605366" y="2904066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022299"/>
            <a:ext cx="6784446" cy="447142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1A16D27-A4C9-17B9-E2F2-894B4728ECCA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457200" y="852117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5172695" y="780069"/>
            <a:ext cx="5546105" cy="39224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4747508"/>
            <a:ext cx="12192000" cy="183338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91440" y="3968168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FA2274-F0D2-3472-A558-E0158DD3C60E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457200" y="852117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479980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945332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7980132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263751" y="1348133"/>
            <a:ext cx="8335405" cy="172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5090662-47D7-46DF-BF7C-6C64341B86F7}"/>
              </a:ext>
            </a:extLst>
          </p:cNvPr>
          <p:cNvSpPr txBox="1"/>
          <p:nvPr/>
        </p:nvSpPr>
        <p:spPr>
          <a:xfrm>
            <a:off x="457200" y="365760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457199" y="852117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844A76-C201-2AB6-DA18-C7257AE15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244244"/>
            <a:ext cx="6858000" cy="120967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EECB5A-3230-F074-3136-3104C3064122}"/>
              </a:ext>
            </a:extLst>
          </p:cNvPr>
          <p:cNvSpPr txBox="1"/>
          <p:nvPr/>
        </p:nvSpPr>
        <p:spPr>
          <a:xfrm>
            <a:off x="457200" y="1411601"/>
            <a:ext cx="8001000" cy="35958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indent="-304800" algn="just">
              <a:spcBef>
                <a:spcPts val="100"/>
              </a:spcBef>
              <a:spcAft>
                <a:spcPts val="600"/>
              </a:spcAft>
              <a:buNone/>
            </a:pPr>
            <a:r>
              <a:rPr lang="en-MY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Kasmeridis</a:t>
            </a: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I. K., &amp; Dimakopoulos, V. V. (2022). OpenMP 	Offloading in the Jetson Nano Platform. </a:t>
            </a:r>
            <a:r>
              <a:rPr lang="en-MY" i="1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Workshop 	Proceedings of the 51st International Conference on 	Parallel Processing</a:t>
            </a: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1–8. 	https://doi.org/10.1145/3547276.3548517</a:t>
            </a:r>
            <a:endParaRPr lang="en-MY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indent="-304800" algn="just">
              <a:spcBef>
                <a:spcPts val="100"/>
              </a:spcBef>
              <a:spcAft>
                <a:spcPts val="600"/>
              </a:spcAft>
              <a:buNone/>
            </a:pPr>
            <a:r>
              <a:rPr lang="en-MY" i="1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Landscape, Terrain, Outdoors, Vista, Environment PNG</a:t>
            </a: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 (n.d.). 	Retrieved August 	21, 2026, from 	https://www.pngmart.com/image/65486</a:t>
            </a:r>
            <a:endParaRPr lang="en-MY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indent="-304800" algn="just">
              <a:spcBef>
                <a:spcPts val="100"/>
              </a:spcBef>
              <a:spcAft>
                <a:spcPts val="600"/>
              </a:spcAft>
              <a:buNone/>
            </a:pP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Lu, S., Lu, J., An, K., Wang, X., &amp; He, Q. (2023). Edge Computing 	on IoT for Machine 	Signal Processing and Fault Diagnosis: 	A Review. In </a:t>
            </a:r>
            <a:r>
              <a:rPr lang="en-MY" i="1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IEEE Internet of Things 	Journal</a:t>
            </a: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(Vol. 10, 	Number 13, pp. 11093–11116). Institute of Electrical and E	</a:t>
            </a:r>
            <a:r>
              <a:rPr lang="en-MY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lectronics</a:t>
            </a:r>
            <a:r>
              <a:rPr lang="en-MY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Engineers Inc. 	https://doi.org/10.1109/JIOT.2023.3239944</a:t>
            </a:r>
            <a:endParaRPr lang="en-MY" sz="1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425"/>
          <a:stretch>
            <a:fillRect/>
          </a:stretch>
        </p:blipFill>
        <p:spPr>
          <a:xfrm>
            <a:off x="8593666" y="1411601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167</TotalTime>
  <Words>2796</Words>
  <Application>Microsoft Office PowerPoint</Application>
  <PresentationFormat>Widescreen</PresentationFormat>
  <Paragraphs>257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19</cp:revision>
  <dcterms:created xsi:type="dcterms:W3CDTF">2013-01-27T09:14:16Z</dcterms:created>
  <dcterms:modified xsi:type="dcterms:W3CDTF">2026-09-22T04:31:45Z</dcterms:modified>
  <cp:category/>
</cp:coreProperties>
</file>