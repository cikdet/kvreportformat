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2" r:id="rId1"/>
  </p:sldMasterIdLst>
  <p:notesMasterIdLst>
    <p:notesMasterId r:id="rId22"/>
  </p:notesMasterIdLst>
  <p:sldIdLst>
    <p:sldId id="276" r:id="rId2"/>
    <p:sldId id="340" r:id="rId3"/>
    <p:sldId id="264" r:id="rId4"/>
    <p:sldId id="342" r:id="rId5"/>
    <p:sldId id="259" r:id="rId6"/>
    <p:sldId id="260" r:id="rId7"/>
    <p:sldId id="261" r:id="rId8"/>
    <p:sldId id="343" r:id="rId9"/>
    <p:sldId id="341" r:id="rId10"/>
    <p:sldId id="267" r:id="rId11"/>
    <p:sldId id="266" r:id="rId12"/>
    <p:sldId id="268" r:id="rId13"/>
    <p:sldId id="269" r:id="rId14"/>
    <p:sldId id="270" r:id="rId15"/>
    <p:sldId id="271" r:id="rId16"/>
    <p:sldId id="272" r:id="rId17"/>
    <p:sldId id="274" r:id="rId18"/>
    <p:sldId id="273" r:id="rId19"/>
    <p:sldId id="275" r:id="rId20"/>
    <p:sldId id="26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BA58E-A761-43A6-A560-8F49DDD8907E}" type="datetimeFigureOut">
              <a:rPr lang="en-MY" smtClean="0"/>
              <a:t>22/9/2026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A18D0-2719-4195-9FE5-5AFA5E6E042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794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b="1" dirty="0"/>
              <a:t>Script:</a:t>
            </a:r>
            <a:br>
              <a:rPr lang="en-MY" dirty="0"/>
            </a:br>
            <a:r>
              <a:rPr lang="en-MY" dirty="0"/>
              <a:t>Good morning and thank you to the panel members, Assoc. Professor Dr. Mohd Razali and Assoc. Prof Dr Mohd </a:t>
            </a:r>
            <a:r>
              <a:rPr lang="en-MY" dirty="0" err="1"/>
              <a:t>Norzali</a:t>
            </a:r>
            <a:r>
              <a:rPr lang="en-MY" dirty="0"/>
              <a:t>.</a:t>
            </a:r>
            <a:br>
              <a:rPr lang="en-MY" dirty="0"/>
            </a:br>
            <a:r>
              <a:rPr lang="en-MY" dirty="0"/>
              <a:t>My name is </a:t>
            </a:r>
            <a:r>
              <a:rPr lang="en-MY" b="1" dirty="0" err="1"/>
              <a:t>Mahdzir</a:t>
            </a:r>
            <a:r>
              <a:rPr lang="en-MY" b="1" dirty="0"/>
              <a:t> </a:t>
            </a:r>
            <a:r>
              <a:rPr lang="en-MY" b="1" dirty="0" err="1"/>
              <a:t>Jamia’an</a:t>
            </a:r>
            <a:r>
              <a:rPr lang="en-MY" dirty="0"/>
              <a:t>, from FKEE under the program of PEE under the supervision of Prof. Dr. Soon Chin </a:t>
            </a:r>
            <a:r>
              <a:rPr lang="en-MY" dirty="0" err="1"/>
              <a:t>Fhong</a:t>
            </a:r>
            <a:r>
              <a:rPr lang="en-MY" dirty="0"/>
              <a:t> and Co-SV, Assoc. Prof Dr Chia Kim Seng.</a:t>
            </a:r>
          </a:p>
          <a:p>
            <a:r>
              <a:rPr lang="en-MY" dirty="0"/>
              <a:t> I am pleased to present my research proposal with the title of </a:t>
            </a:r>
            <a:r>
              <a:rPr lang="en-MY" i="1" dirty="0"/>
              <a:t>“Novel Anomaly Detection and Growth Phase Forecasting in Microalgae Cultivation Using IoT Sensor and Edge-Deployed LSTM Autoencoder and Isolation Forest Models.”</a:t>
            </a:r>
            <a:endParaRPr lang="en-MY" dirty="0"/>
          </a:p>
          <a:p>
            <a:r>
              <a:rPr lang="en-MY" dirty="0"/>
              <a:t>In simple terms, my research combines </a:t>
            </a:r>
            <a:r>
              <a:rPr lang="en-MY" b="1" dirty="0"/>
              <a:t>IoT technology</a:t>
            </a:r>
            <a:r>
              <a:rPr lang="en-MY" dirty="0"/>
              <a:t>, </a:t>
            </a:r>
            <a:r>
              <a:rPr lang="en-MY" b="1" dirty="0"/>
              <a:t>real-time data collection</a:t>
            </a:r>
            <a:r>
              <a:rPr lang="en-MY" dirty="0"/>
              <a:t>, and </a:t>
            </a:r>
            <a:r>
              <a:rPr lang="en-MY" b="1" dirty="0"/>
              <a:t>machine learning algorithms</a:t>
            </a:r>
            <a:r>
              <a:rPr lang="en-MY" dirty="0"/>
              <a:t> to improve how we monitor and manage microalgae cultivation.</a:t>
            </a:r>
            <a:br>
              <a:rPr lang="en-MY" dirty="0"/>
            </a:br>
            <a:r>
              <a:rPr lang="en-MY" dirty="0"/>
              <a:t>This work aims to create a smarter, more efficient, and sustainable way to produce microalgae, which has growing importance in the bioeconomy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315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MY" dirty="0"/>
              <a:t>“Initial time series analysis has been conducted”</a:t>
            </a:r>
          </a:p>
          <a:p>
            <a:r>
              <a:rPr lang="en-MY" dirty="0"/>
              <a:t>“System development has been completed”</a:t>
            </a:r>
          </a:p>
          <a:p>
            <a:r>
              <a:rPr lang="en-MY" dirty="0"/>
              <a:t>“Data acquisition is ongoing”</a:t>
            </a:r>
          </a:p>
          <a:p>
            <a:r>
              <a:rPr lang="en-MY" dirty="0"/>
              <a:t>“Machine learning models are currently being evaluated”</a:t>
            </a:r>
          </a:p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692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805CA4-B0B2-06A6-6418-B382C7B6D0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57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85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5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59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00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2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43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699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40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71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425043E-EED9-49E3-A00E-BADACD1356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82" y="1122363"/>
            <a:ext cx="6665154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6682" y="3645374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12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8C0A0A-DCB2-1DD8-754B-7D455D71F87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5" y="0"/>
            <a:ext cx="12181968" cy="6857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37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2177086" y="4230940"/>
            <a:ext cx="7472752" cy="1655762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Oleh: </a:t>
            </a:r>
          </a:p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Ts. M</a:t>
            </a:r>
            <a:r>
              <a:rPr lang="en-US" b="1" dirty="0"/>
              <a:t>AHDZIR BIN JAMIAAN 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Senior Lecture (DH13) </a:t>
            </a:r>
            <a:r>
              <a:rPr lang="en-US" sz="20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PolyCC</a:t>
            </a: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Postgraduate UTHM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Mint-SRC / FKEE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Universiti Tun Hussein Onn Malaysia (UTHM)</a:t>
            </a:r>
          </a:p>
          <a:p>
            <a:pPr marL="0" indent="0" algn="l">
              <a:buNone/>
            </a:pP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F0C24-8EFF-4D5B-FECE-87736460D477}"/>
              </a:ext>
            </a:extLst>
          </p:cNvPr>
          <p:cNvSpPr txBox="1"/>
          <p:nvPr/>
        </p:nvSpPr>
        <p:spPr>
          <a:xfrm>
            <a:off x="1024428" y="915599"/>
            <a:ext cx="103327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PANDUAN PENULISAN LAPORAN P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ROJEK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AHUN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KHIR (PTA)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algn="ctr">
              <a:spcBef>
                <a:spcPts val="1200"/>
              </a:spcBef>
              <a:defRPr sz="2400" b="0">
                <a:solidFill>
                  <a:srgbClr val="FFFFFF"/>
                </a:solidFill>
                <a:latin typeface="Georgia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Garis Panduan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Projek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Tahun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Akhir Kolej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Vokasional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(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Edisi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2023)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F41F6-5DAB-2E36-5810-8C9A1C12E9DD}"/>
              </a:ext>
            </a:extLst>
          </p:cNvPr>
          <p:cNvSpPr txBox="1"/>
          <p:nvPr/>
        </p:nvSpPr>
        <p:spPr>
          <a:xfrm>
            <a:off x="291830" y="2876723"/>
            <a:ext cx="11682919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Sesi </a:t>
            </a:r>
            <a:r>
              <a:rPr sz="2400" dirty="0" err="1">
                <a:solidFill>
                  <a:srgbClr val="FF0000"/>
                </a:solidFill>
              </a:rPr>
              <a:t>Perkongsian</a:t>
            </a:r>
            <a:r>
              <a:rPr sz="2400" dirty="0">
                <a:solidFill>
                  <a:srgbClr val="FF0000"/>
                </a:solidFill>
              </a:rPr>
              <a:t> Format </a:t>
            </a:r>
            <a:r>
              <a:rPr sz="2400" dirty="0" err="1">
                <a:solidFill>
                  <a:srgbClr val="FF0000"/>
                </a:solidFill>
              </a:rPr>
              <a:t>Laporan</a:t>
            </a:r>
            <a:r>
              <a:rPr sz="2400" dirty="0">
                <a:solidFill>
                  <a:srgbClr val="FF0000"/>
                </a:solidFill>
              </a:rPr>
              <a:t> Akhir &amp; </a:t>
            </a:r>
            <a:r>
              <a:rPr sz="2400" dirty="0" err="1">
                <a:solidFill>
                  <a:srgbClr val="FF0000"/>
                </a:solidFill>
              </a:rPr>
              <a:t>Syarat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Kelulusan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Graduasi</a:t>
            </a:r>
            <a:endParaRPr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 err="1">
                <a:solidFill>
                  <a:srgbClr val="FF0000"/>
                </a:solidFill>
              </a:rPr>
              <a:t>Untuk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Pelajar</a:t>
            </a:r>
            <a:r>
              <a:rPr sz="2400" dirty="0">
                <a:solidFill>
                  <a:srgbClr val="FF0000"/>
                </a:solidFill>
              </a:rPr>
              <a:t> Diploma </a:t>
            </a:r>
            <a:r>
              <a:rPr sz="2400" dirty="0" err="1">
                <a:solidFill>
                  <a:srgbClr val="FF0000"/>
                </a:solidFill>
              </a:rPr>
              <a:t>Vokasional</a:t>
            </a:r>
            <a:r>
              <a:rPr sz="2400" dirty="0">
                <a:solidFill>
                  <a:srgbClr val="FF0000"/>
                </a:solidFill>
              </a:rPr>
              <a:t> Malaysia (DVM)  </a:t>
            </a:r>
            <a:endParaRPr lang="en-MY"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Kementerian Pendidikan Malaysia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73319F-BF99-03E6-6E66-BE755CCF4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22" y="4044581"/>
            <a:ext cx="1546872" cy="232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0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20433-1BA4-AB8D-6797-5C22B01F8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34F1FB-720B-F974-EC78-9E4EB2DD6EA6}"/>
              </a:ext>
            </a:extLst>
          </p:cNvPr>
          <p:cNvSpPr/>
          <p:nvPr/>
        </p:nvSpPr>
        <p:spPr>
          <a:xfrm>
            <a:off x="113122" y="952107"/>
            <a:ext cx="11972041" cy="1140644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softEdge rad="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48BE30B-CC18-DEA7-CA1A-0557A0C377BD}"/>
              </a:ext>
            </a:extLst>
          </p:cNvPr>
          <p:cNvSpPr/>
          <p:nvPr/>
        </p:nvSpPr>
        <p:spPr>
          <a:xfrm>
            <a:off x="226244" y="1055801"/>
            <a:ext cx="2300140" cy="9144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EE5D2D-FB88-0C01-E85E-A52CB91ADC0C}"/>
              </a:ext>
            </a:extLst>
          </p:cNvPr>
          <p:cNvSpPr txBox="1"/>
          <p:nvPr/>
        </p:nvSpPr>
        <p:spPr>
          <a:xfrm>
            <a:off x="5030772" y="1045375"/>
            <a:ext cx="2155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PROBLEM STATEMENT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E30F12-DBD0-4FAA-4040-44A3BB603811}"/>
              </a:ext>
            </a:extLst>
          </p:cNvPr>
          <p:cNvSpPr txBox="1"/>
          <p:nvPr/>
        </p:nvSpPr>
        <p:spPr>
          <a:xfrm>
            <a:off x="7378045" y="1246646"/>
            <a:ext cx="21555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8E2F23-A61B-C7DA-BCDA-3AAB57BD1E93}"/>
              </a:ext>
            </a:extLst>
          </p:cNvPr>
          <p:cNvSpPr txBox="1"/>
          <p:nvPr/>
        </p:nvSpPr>
        <p:spPr>
          <a:xfrm>
            <a:off x="9810161" y="1073653"/>
            <a:ext cx="2155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 OF STUDY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99FECE-47C7-DCFC-83BA-A371A7329CC3}"/>
              </a:ext>
            </a:extLst>
          </p:cNvPr>
          <p:cNvSpPr txBox="1"/>
          <p:nvPr/>
        </p:nvSpPr>
        <p:spPr>
          <a:xfrm>
            <a:off x="2613582" y="1104430"/>
            <a:ext cx="224515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BACKGROUND STUDY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833165-67BD-AAAD-F194-F3EC8274A261}"/>
              </a:ext>
            </a:extLst>
          </p:cNvPr>
          <p:cNvSpPr txBox="1"/>
          <p:nvPr/>
        </p:nvSpPr>
        <p:spPr>
          <a:xfrm>
            <a:off x="238812" y="1073653"/>
            <a:ext cx="22553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ISI KANDUNGAN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540BD3-4DF9-D8E4-C182-83DFE447B57E}"/>
              </a:ext>
            </a:extLst>
          </p:cNvPr>
          <p:cNvSpPr txBox="1"/>
          <p:nvPr/>
        </p:nvSpPr>
        <p:spPr>
          <a:xfrm>
            <a:off x="238812" y="2380045"/>
            <a:ext cx="1030321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1.0 Progress (Progress update (Gaps  and contribution)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a) Multivariate Real Time Series Anomaly Detection   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(MRAD) – adaptive threshold (AT)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b) Data smoothing / Rolling windows (data cleaning)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c) LSTM-AE Machine learning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F56D11-F3A4-261C-8E3C-836F0637BCD8}"/>
              </a:ext>
            </a:extLst>
          </p:cNvPr>
          <p:cNvSpPr txBox="1"/>
          <p:nvPr/>
        </p:nvSpPr>
        <p:spPr>
          <a:xfrm>
            <a:off x="69654" y="4990141"/>
            <a:ext cx="7755260" cy="587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2.0 Future Planning (paper publication)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B350E-659E-7521-F807-8160DF4B1659}"/>
              </a:ext>
            </a:extLst>
          </p:cNvPr>
          <p:cNvSpPr txBox="1"/>
          <p:nvPr/>
        </p:nvSpPr>
        <p:spPr>
          <a:xfrm>
            <a:off x="69654" y="5612244"/>
            <a:ext cx="7229229" cy="587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3.0 Q&amp;A and  Discussion</a:t>
            </a:r>
          </a:p>
        </p:txBody>
      </p:sp>
    </p:spTree>
    <p:extLst>
      <p:ext uri="{BB962C8B-B14F-4D97-AF65-F5344CB8AC3E}">
        <p14:creationId xmlns:p14="http://schemas.microsoft.com/office/powerpoint/2010/main" val="421627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Pentaksiran</a:t>
            </a:r>
            <a:r>
              <a:rPr lang="en-MY" dirty="0"/>
              <a:t> / </a:t>
            </a:r>
            <a:r>
              <a:rPr lang="en-MY" dirty="0" err="1"/>
              <a:t>Pemarkahan</a:t>
            </a:r>
            <a:r>
              <a:rPr lang="en-MY" dirty="0"/>
              <a:t> </a:t>
            </a:r>
            <a:r>
              <a:rPr lang="en-MY" dirty="0" err="1"/>
              <a:t>Projek</a:t>
            </a:r>
            <a:r>
              <a:rPr lang="en-MY" dirty="0"/>
              <a:t> </a:t>
            </a:r>
            <a:r>
              <a:rPr lang="en-MY" dirty="0" err="1"/>
              <a:t>Tahun</a:t>
            </a:r>
            <a:r>
              <a:rPr lang="en-MY" dirty="0"/>
              <a:t> Akhir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Agihan</a:t>
            </a:r>
            <a:r>
              <a:rPr dirty="0"/>
              <a:t> </a:t>
            </a:r>
            <a:r>
              <a:rPr dirty="0" err="1"/>
              <a:t>Markah</a:t>
            </a:r>
            <a:r>
              <a:rPr dirty="0"/>
              <a:t> </a:t>
            </a:r>
            <a:r>
              <a:rPr dirty="0" err="1"/>
              <a:t>Pentaksiran</a:t>
            </a:r>
            <a:r>
              <a:rPr dirty="0"/>
              <a:t> </a:t>
            </a:r>
            <a:r>
              <a:rPr dirty="0" err="1"/>
              <a:t>Berterusan</a:t>
            </a:r>
            <a:r>
              <a:rPr dirty="0"/>
              <a:t> </a:t>
            </a:r>
            <a:endParaRPr lang="en-MY" dirty="0"/>
          </a:p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(PB 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254" y="2208106"/>
            <a:ext cx="5212079" cy="3267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lang="fi-FI" sz="1400" dirty="0">
                <a:latin typeface="Georgia" panose="02040502050405020303" pitchFamily="18" charset="0"/>
              </a:rPr>
              <a:t>Skema Pemarkahan Projek Tahun Akhir 1 (PTA 1):</a:t>
            </a:r>
          </a:p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600" dirty="0">
                <a:solidFill>
                  <a:srgbClr val="2A2D34"/>
                </a:solidFill>
                <a:latin typeface="Georgia" panose="02040502050405020303" pitchFamily="18" charset="0"/>
              </a:rPr>
              <a:t>60%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25%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Progres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Bab 1-3: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1: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  <a:p>
            <a:pPr>
              <a:spcBef>
                <a:spcPts val="800"/>
              </a:spcBef>
            </a:pPr>
            <a:endParaRPr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400"/>
              </a:spcAft>
              <a:defRPr sz="1200" b="1">
                <a:solidFill>
                  <a:srgbClr val="1B2A4A"/>
                </a:solidFill>
                <a:latin typeface="Georgia"/>
              </a:defRPr>
            </a:pPr>
            <a:r>
              <a:rPr sz="1400" dirty="0">
                <a:latin typeface="Georgia" panose="02040502050405020303" pitchFamily="18" charset="0"/>
              </a:rPr>
              <a:t>Skema </a:t>
            </a:r>
            <a:r>
              <a:rPr sz="1400" dirty="0" err="1">
                <a:latin typeface="Georgia" panose="02040502050405020303" pitchFamily="18" charset="0"/>
              </a:rPr>
              <a:t>Pemarkahan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Projek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Tahun</a:t>
            </a:r>
            <a:r>
              <a:rPr sz="1400" dirty="0">
                <a:latin typeface="Georgia" panose="02040502050405020303" pitchFamily="18" charset="0"/>
              </a:rPr>
              <a:t> Akhir 2 (PTA 2):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600" b="1" dirty="0">
                <a:solidFill>
                  <a:srgbClr val="2A2D34"/>
                </a:solidFill>
                <a:latin typeface="Georgia" panose="02040502050405020303" pitchFamily="18" charset="0"/>
              </a:rPr>
              <a:t>45%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Hasil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Produk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Perisian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Kajian):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30%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2: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39535" y="1502473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Syarat</a:t>
            </a:r>
            <a:r>
              <a:rPr dirty="0"/>
              <a:t> </a:t>
            </a:r>
            <a:r>
              <a:rPr dirty="0" err="1"/>
              <a:t>Kelulusan</a:t>
            </a:r>
            <a:r>
              <a:rPr dirty="0"/>
              <a:t> &amp; </a:t>
            </a:r>
            <a:r>
              <a:rPr dirty="0" err="1"/>
              <a:t>Graduasi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430975" y="2208106"/>
            <a:ext cx="5120640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Kursus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 Lulus: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PTA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merupakan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kurikulum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DVM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dipenuhi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tujuan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penganugerahan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diploma.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Markah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Kelulusan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Minima: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Calon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memperoleh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sekurang-kurangnya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40%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D+ / Nilai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1.33)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markah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Lulus.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Keputusan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Keputusan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muktamad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diklasifikasikan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(Lulus)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atau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Tidak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Gagal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Peluang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Mengulang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GAGAL PTA 2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menduduki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ulangan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sekali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pada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tahun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semasa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41361-2EB8-4FCD-8B0A-A3F1E086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04C61F-2A49-BAC7-3309-8996BFD45C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Akreditasi</a:t>
            </a:r>
            <a:r>
              <a:rPr lang="en-MY" dirty="0"/>
              <a:t> MQA &amp; MBOT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32B1F6-E5B6-25E9-FC7A-00FD2F58B7B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C161D0-555F-727A-C811-A4CF8BA03C4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542A48-DE20-159A-B29B-2C7327F0CA43}"/>
              </a:ext>
            </a:extLst>
          </p:cNvPr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5EAFA-1FA9-5189-3082-6981C1B5381A}"/>
              </a:ext>
            </a:extLst>
          </p:cNvPr>
          <p:cNvSpPr txBox="1"/>
          <p:nvPr/>
        </p:nvSpPr>
        <p:spPr>
          <a:xfrm>
            <a:off x="624840" y="146304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s-ES" dirty="0" err="1"/>
              <a:t>Pemetaan</a:t>
            </a:r>
            <a:r>
              <a:rPr lang="es-ES" dirty="0"/>
              <a:t> Hasil </a:t>
            </a:r>
            <a:r>
              <a:rPr lang="es-ES" dirty="0" err="1"/>
              <a:t>Pembelajaran</a:t>
            </a:r>
            <a:r>
              <a:rPr lang="es-ES" dirty="0"/>
              <a:t> (CLO &amp; PLO)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6FB01-BFA1-525D-A787-A65250EB776F}"/>
              </a:ext>
            </a:extLst>
          </p:cNvPr>
          <p:cNvSpPr txBox="1"/>
          <p:nvPr/>
        </p:nvSpPr>
        <p:spPr>
          <a:xfrm>
            <a:off x="670254" y="2208106"/>
            <a:ext cx="5212079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1: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(C4, PLO3):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menjana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penyelesaian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munasabah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2: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Praktikal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(P5/P3, PLO2):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sistematik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menyusun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mempamerkan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kemahiran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bidang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3: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Komunikasi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(A4/A2, PLO4):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Melaksanakan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pembentangan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proposal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berstruktur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serta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profesional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Matlamat</a:t>
            </a:r>
            <a:r>
              <a:rPr lang="en-MY"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Utama: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Melahirkan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tenaga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kompeten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kreatif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menyumbang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industri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negara.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711097-D906-6040-B3D2-4796235E067A}"/>
              </a:ext>
            </a:extLst>
          </p:cNvPr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CE0756-EA09-6A58-4AC1-2C467533CA3E}"/>
              </a:ext>
            </a:extLst>
          </p:cNvPr>
          <p:cNvSpPr txBox="1"/>
          <p:nvPr/>
        </p:nvSpPr>
        <p:spPr>
          <a:xfrm>
            <a:off x="6355080" y="1461234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Kriteria</a:t>
            </a:r>
            <a:r>
              <a:rPr lang="en-MY" dirty="0"/>
              <a:t> </a:t>
            </a:r>
            <a:r>
              <a:rPr lang="en-MY" dirty="0" err="1"/>
              <a:t>Akreditasi</a:t>
            </a:r>
            <a:r>
              <a:rPr lang="en-MY" dirty="0"/>
              <a:t> </a:t>
            </a:r>
            <a:r>
              <a:rPr lang="en-MY" dirty="0" err="1"/>
              <a:t>Agensi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8FD7F-7E55-94DF-A324-873F1377E5BA}"/>
              </a:ext>
            </a:extLst>
          </p:cNvPr>
          <p:cNvSpPr txBox="1"/>
          <p:nvPr/>
        </p:nvSpPr>
        <p:spPr>
          <a:xfrm>
            <a:off x="6430975" y="2208106"/>
            <a:ext cx="51206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Standard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Akreditasi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MQA: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membuktikan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menguasai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Hasil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Pembelajaran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Program (PLO)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disyaratkan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Pensijilan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Teknologis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MBOT: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Menyokong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kelayakan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Bersekutu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selepas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bergraduat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Kolej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Vokasional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Pengukuran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Domain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Bersepadu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menyelesaikan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tugasan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melalui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pemetaan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domain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psikomotor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afektif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Kriteria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Penting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Penilaian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Kebolehan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baharu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mempraktikkan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keselamatan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bengkel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membentang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yakin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1087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Bab 1-3 Membina Landasan Kajian Melalui Pengenalan, Literatur, dan Metodologi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1: </a:t>
            </a:r>
            <a:r>
              <a:rPr dirty="0" err="1"/>
              <a:t>Pengenalan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Pengenalan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Gambaran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Latar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Belakang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Penerangan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bagaimana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idea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asal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tercetus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beserta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suasana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Pernyataan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Masalah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Keadaan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sebenar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dihadapi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mencetuskan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keperluan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Objektif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spesifik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boleh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diukur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dicapai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Skop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dimensi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pengguna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had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2: Kajian Literatur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Ulasan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Kajian Lepas: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Huraian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kajian-kajian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berkait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pembolehubah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Asas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Pengetahuan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Mengulas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konsep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hipotesis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maklumat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digunapakai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Justifikasi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Kepentingan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Menjelaskan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mengapa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dilaksanakan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Rujukan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Teks: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Memetik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sumber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ilmiah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konsisten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mengikut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rujukan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APA.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3: </a:t>
            </a:r>
            <a:r>
              <a:rPr dirty="0" err="1"/>
              <a:t>Metodologi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Konsep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Reka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Bentuk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Menerangkan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fungsi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2D/3D.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Proses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Pembuatan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Aliran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proses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(Carta Alir)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pengukuran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pembuatan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Anggaran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Kos: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buruh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utiliti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pengiraan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Perancangan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Carta Gantt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mingguan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membandingkan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vs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pelaksanaan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Bab 4-5 dan Abstrak Merumuskan Dapatan, Analisis, serta Impak Projek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4: </a:t>
            </a:r>
            <a:r>
              <a:rPr dirty="0" err="1"/>
              <a:t>Dapatan</a:t>
            </a:r>
            <a:r>
              <a:rPr dirty="0"/>
              <a:t> &amp; </a:t>
            </a:r>
            <a:r>
              <a:rPr dirty="0" err="1"/>
              <a:t>Analisis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Senarai</a:t>
            </a:r>
            <a:r>
              <a:rPr sz="1400" b="1" dirty="0">
                <a:solidFill>
                  <a:srgbClr val="1B2A4A"/>
                </a:solidFill>
              </a:rPr>
              <a:t> Alatan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Nyatakan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alatan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perkakasan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pengujian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terperinci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Kaedah</a:t>
            </a:r>
            <a:r>
              <a:rPr sz="1400" b="1" dirty="0">
                <a:solidFill>
                  <a:srgbClr val="1B2A4A"/>
                </a:solidFill>
              </a:rPr>
              <a:t>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Terangkan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penentu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ukuran</a:t>
            </a:r>
            <a:r>
              <a:rPr sz="1400" dirty="0">
                <a:solidFill>
                  <a:srgbClr val="2A2D34"/>
                </a:solidFill>
              </a:rPr>
              <a:t> (calibration) dan parameter.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</a:rPr>
              <a:t>Langkah </a:t>
            </a:r>
            <a:r>
              <a:rPr sz="1400" b="1" dirty="0" err="1">
                <a:solidFill>
                  <a:srgbClr val="1B2A4A"/>
                </a:solidFill>
              </a:rPr>
              <a:t>Keselamatan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keselamatan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pencegahan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kemalangan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semasa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ujikaji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Dapatan</a:t>
            </a:r>
            <a:r>
              <a:rPr sz="1400" b="1" dirty="0">
                <a:solidFill>
                  <a:srgbClr val="1B2A4A"/>
                </a:solidFill>
              </a:rPr>
              <a:t> &amp; </a:t>
            </a:r>
            <a:r>
              <a:rPr sz="1400" b="1" dirty="0" err="1">
                <a:solidFill>
                  <a:srgbClr val="1B2A4A"/>
                </a:solidFill>
              </a:rPr>
              <a:t>Analisis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Pembentangan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keputusan</a:t>
            </a:r>
            <a:r>
              <a:rPr sz="1400" dirty="0">
                <a:solidFill>
                  <a:srgbClr val="2A2D34"/>
                </a:solidFill>
              </a:rPr>
              <a:t> (</a:t>
            </a:r>
            <a:r>
              <a:rPr sz="1400" dirty="0" err="1">
                <a:solidFill>
                  <a:srgbClr val="2A2D34"/>
                </a:solidFill>
              </a:rPr>
              <a:t>jadual</a:t>
            </a:r>
            <a:r>
              <a:rPr sz="1400" dirty="0">
                <a:solidFill>
                  <a:srgbClr val="2A2D34"/>
                </a:solidFill>
              </a:rPr>
              <a:t>, rajah, </a:t>
            </a:r>
            <a:r>
              <a:rPr sz="1400" dirty="0" err="1">
                <a:solidFill>
                  <a:srgbClr val="2A2D34"/>
                </a:solidFill>
              </a:rPr>
              <a:t>graf</a:t>
            </a:r>
            <a:r>
              <a:rPr sz="1400" dirty="0">
                <a:solidFill>
                  <a:srgbClr val="2A2D34"/>
                </a:solidFill>
              </a:rPr>
              <a:t>) </a:t>
            </a:r>
            <a:r>
              <a:rPr sz="1400" dirty="0" err="1">
                <a:solidFill>
                  <a:srgbClr val="2A2D34"/>
                </a:solidFill>
              </a:rPr>
              <a:t>selari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persoalan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kajian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Membaikpulih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>
                <a:solidFill>
                  <a:srgbClr val="2A2D34"/>
                </a:solidFill>
              </a:rPr>
              <a:t>Catat proses </a:t>
            </a:r>
            <a:r>
              <a:rPr sz="1400" dirty="0" err="1">
                <a:solidFill>
                  <a:srgbClr val="2A2D34"/>
                </a:solidFill>
              </a:rPr>
              <a:t>membaikpulih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penyelenggaraan</a:t>
            </a:r>
            <a:r>
              <a:rPr sz="1400" dirty="0">
                <a:solidFill>
                  <a:srgbClr val="2A2D34"/>
                </a:solidFill>
              </a:rPr>
              <a:t> yang </a:t>
            </a:r>
            <a:r>
              <a:rPr sz="1400" dirty="0" err="1">
                <a:solidFill>
                  <a:srgbClr val="2A2D34"/>
                </a:solidFill>
              </a:rPr>
              <a:t>dijalankan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5: Perbincangan &amp; Cadangan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Rumusan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Merumuskan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pencapaian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objektif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Perbincangan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Hasil: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Sokongan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hujah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interpretasi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lepas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Kelemahan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Kelebihan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Mengenal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pasti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kelebihan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dicipta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Syor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Cadangan: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Mengemukakan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syor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langkah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penambahbaikan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upgrade masa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hadapan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STRUKTUR: Abstrak Projek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Ringkasan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Padat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Satu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perenggan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menggambarkan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PTA.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Panjang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Abstrak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Maksimum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300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perkataan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dimuatkan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surat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Dua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Versi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Bahasa: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Wajib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disediakan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Melayu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diikuti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versi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Inggeris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(Abstract).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Kandungan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Mengandungi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latar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belakang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keputusan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kesimpulan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Tetapan</a:t>
            </a:r>
            <a:r>
              <a:rPr dirty="0"/>
              <a:t> Ruang Tepi Muka Surat (Page Setup)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248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Kiri (Left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4.0 cm (40mm)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jilid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(binding) agar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tidak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tenggelam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Atas (Top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Bawah (Bottom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Kanan (Right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Orientasi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Standard Portrait.</a:t>
            </a:r>
            <a:endParaRPr lang="en-MY"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Pertukaran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ke Landscape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khusus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rajah/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44907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Tipografi</a:t>
            </a:r>
            <a:r>
              <a:rPr dirty="0"/>
              <a:t> &amp; </a:t>
            </a:r>
            <a:r>
              <a:rPr dirty="0" err="1"/>
              <a:t>Tetapan</a:t>
            </a:r>
            <a:r>
              <a:rPr dirty="0"/>
              <a:t> Teks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Jenis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Family):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tulisan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jenis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Arial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Saiz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Size):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Saiz 11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Jarak Baris (Line Spacing):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1.5 Spacing (Paragraph) [33, 66, 141].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ilustrasi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single spacing.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Penjajaran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Teks (Alignment):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tetapan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Justify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kekemasan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Nombor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Muka Surat: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Diletakkan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bahagian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bawah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penjuru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kanan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(Plain Number 3).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3521B-0924-011A-EF07-EA6C4AAD1E3A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BAF2A-7E70-DC7B-F0F2-A8E361CA1B14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01. TETAPAN ASAS DOKUMEN MS WORD (PAGE SETUP)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MARGIN KIRI (RUANG JILID)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4.0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Wajib </a:t>
            </a:r>
            <a:r>
              <a:rPr sz="1400" dirty="0" err="1">
                <a:latin typeface="Georgia" panose="02040502050405020303" pitchFamily="18" charset="0"/>
              </a:rPr>
              <a:t>untuk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ruang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penjilidan</a:t>
            </a:r>
            <a:r>
              <a:rPr sz="1400" dirty="0">
                <a:latin typeface="Georgia" panose="02040502050405020303" pitchFamily="18" charset="0"/>
              </a:rPr>
              <a:t> Hard Cover Biru Gelap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MARGIN ATAS, BAWAH, KANAN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2.5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Standard </a:t>
            </a:r>
            <a:r>
              <a:rPr sz="1400" dirty="0" err="1">
                <a:latin typeface="Georgia" panose="02040502050405020303" pitchFamily="18" charset="0"/>
              </a:rPr>
              <a:t>jujukan</a:t>
            </a:r>
            <a:r>
              <a:rPr sz="1400" dirty="0">
                <a:latin typeface="Georgia" panose="02040502050405020303" pitchFamily="18" charset="0"/>
              </a:rPr>
              <a:t> margin </a:t>
            </a:r>
            <a:r>
              <a:rPr sz="1400" dirty="0" err="1">
                <a:latin typeface="Georgia" panose="02040502050405020303" pitchFamily="18" charset="0"/>
              </a:rPr>
              <a:t>halaman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akademik</a:t>
            </a:r>
            <a:r>
              <a:rPr sz="1400" dirty="0">
                <a:latin typeface="Georgia" panose="02040502050405020303" pitchFamily="18" charset="0"/>
              </a:rPr>
              <a:t> KPM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0584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JENIS &amp; SAIZ TULISAN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Arial 11 pt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Tulisan </a:t>
            </a:r>
            <a:r>
              <a:rPr sz="1400" dirty="0" err="1">
                <a:latin typeface="Georgia" panose="02040502050405020303" pitchFamily="18" charset="0"/>
              </a:rPr>
              <a:t>rasmi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laporan</a:t>
            </a:r>
            <a:r>
              <a:rPr sz="1400" dirty="0">
                <a:latin typeface="Georgia" panose="02040502050405020303" pitchFamily="18" charset="0"/>
              </a:rPr>
              <a:t>. Langkau 1.5 spacing &amp; Justify.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SPESIFIKASI KERTAS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A4 80 </a:t>
            </a:r>
            <a:r>
              <a:rPr sz="3200" dirty="0" err="1">
                <a:latin typeface="Georgia" panose="02040502050405020303" pitchFamily="18" charset="0"/>
              </a:rPr>
              <a:t>gsm</a:t>
            </a:r>
            <a:endParaRPr sz="3200" dirty="0">
              <a:latin typeface="Georgia" panose="02040502050405020303" pitchFamily="18" charset="0"/>
            </a:endParaRP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Warna </a:t>
            </a:r>
            <a:r>
              <a:rPr sz="1400" dirty="0" err="1">
                <a:latin typeface="Georgia" panose="02040502050405020303" pitchFamily="18" charset="0"/>
              </a:rPr>
              <a:t>putih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bersih</a:t>
            </a:r>
            <a:r>
              <a:rPr sz="1400" dirty="0">
                <a:latin typeface="Georgia" panose="02040502050405020303" pitchFamily="18" charset="0"/>
              </a:rPr>
              <a:t>, </a:t>
            </a:r>
            <a:r>
              <a:rPr sz="1400" dirty="0" err="1">
                <a:latin typeface="Georgia" panose="02040502050405020303" pitchFamily="18" charset="0"/>
              </a:rPr>
              <a:t>cetakan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sebelah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muka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surat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sahaja</a:t>
            </a:r>
            <a:r>
              <a:rPr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C9F9CE-21DE-5DD3-B177-5A69D0D5606A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KANDUNGAN &amp; HASIL PEMBELAJARAN PANDUAN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1508760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Tetapan Asas Dokumen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Margin 4cm/2.5cm, saiz kertas A4 80gsm, jenis Arial 11pt, &amp; langkau 1.5 spacing.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04872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542032"/>
            <a:ext cx="594360" cy="5943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9631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Pengurusan Styles &amp; Headings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Penggunaan Heading 1, Heading 2, &amp; Navigation Pane untuk struktur Bab.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38144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3575304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29584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Section Breaks &amp; Nombor Muka Surat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Memisahkan Penomboran Romani (i, ii) Bahagian Awal &amp; Angka (1, 2) Bab Utama.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71416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68680" y="4608576"/>
            <a:ext cx="594360" cy="5943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562856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Captions Automatik &amp; Senarai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Insert Caption untuk Tajuk Jadual/Rajah &amp; penjanaan Isi Kandungan Automatik.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504688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68680" y="5641848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596128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Pengurusan Rujukan Akademik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Integrasi perisian Mendeley &amp; Zotero untuk sitasi automatik gaya APA.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6BB484-EA04-087C-818E-1E1E18AEFA25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/>
              <a:t>Persediaan Laporan Akhir </a:t>
            </a:r>
            <a:endParaRPr lang="en-MY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8D114F-9DE4-D149-4F7F-E120BB1C8302}"/>
              </a:ext>
            </a:extLst>
          </p:cNvPr>
          <p:cNvSpPr txBox="1"/>
          <p:nvPr/>
        </p:nvSpPr>
        <p:spPr>
          <a:xfrm>
            <a:off x="3208865" y="1106117"/>
            <a:ext cx="5494868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New Folder &lt;dir&gt;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US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Copy template &lt;Template KV Segamat_BM_V1.1_APA_Sept2026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US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Save as &lt; your new file name&gt; on the same &lt;dir&gt;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51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9BE802-64F4-3A6E-37DF-0B99DD1879CA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28251-BBD5-AFD2-A4D6-75C3ECE0873F}"/>
              </a:ext>
            </a:extLst>
          </p:cNvPr>
          <p:cNvSpPr txBox="1"/>
          <p:nvPr/>
        </p:nvSpPr>
        <p:spPr>
          <a:xfrm>
            <a:off x="457200" y="852117"/>
            <a:ext cx="2599268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Microsoft </a:t>
            </a:r>
            <a:r>
              <a:rPr lang="en-MY" dirty="0" err="1"/>
              <a:t>Offce</a:t>
            </a:r>
            <a:br>
              <a:rPr lang="en-MY" dirty="0"/>
            </a:br>
            <a:r>
              <a:rPr lang="en-MY" dirty="0"/>
              <a:t>-File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-Option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7949B1-6FDD-7D8D-02AD-7860E6D54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0113"/>
            <a:ext cx="4594098" cy="468376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A80FDFA-92E3-E063-C6FE-C38280B30E79}"/>
              </a:ext>
            </a:extLst>
          </p:cNvPr>
          <p:cNvSpPr txBox="1"/>
          <p:nvPr/>
        </p:nvSpPr>
        <p:spPr>
          <a:xfrm>
            <a:off x="5547595" y="852117"/>
            <a:ext cx="567920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-Advanced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boxes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boundaries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-shading</a:t>
            </a:r>
            <a:endParaRPr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AE79BF-5BEC-D319-1533-EA290CFA8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504" y="2053246"/>
            <a:ext cx="5679206" cy="467889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6276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E3B7A-4D1D-4F34-6D70-D4335C59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2A475C-0765-45B2-313C-B62F4C212114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2E352-9D70-B94D-EC8A-C52C78A5751B}"/>
              </a:ext>
            </a:extLst>
          </p:cNvPr>
          <p:cNvSpPr txBox="1"/>
          <p:nvPr/>
        </p:nvSpPr>
        <p:spPr>
          <a:xfrm>
            <a:off x="457200" y="852117"/>
            <a:ext cx="42418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-Show below the ribbon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B9D08-981C-047A-6BC6-C7E824F51E4E}"/>
              </a:ext>
            </a:extLst>
          </p:cNvPr>
          <p:cNvSpPr txBox="1"/>
          <p:nvPr/>
        </p:nvSpPr>
        <p:spPr>
          <a:xfrm>
            <a:off x="7559942" y="817513"/>
            <a:ext cx="5679205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Customize Ribbon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-Developer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422FC3-A25B-4DD9-F9B8-79EB5FA8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34"/>
          <a:stretch>
            <a:fillRect/>
          </a:stretch>
        </p:blipFill>
        <p:spPr>
          <a:xfrm>
            <a:off x="575733" y="1775447"/>
            <a:ext cx="3572142" cy="468561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D5BA1C-2FDC-FCF1-1181-962BA7594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733" y="1279178"/>
            <a:ext cx="4138585" cy="3429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4075F8-09DB-B6CA-C2F4-3548D6ADB4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652" b="26580"/>
          <a:stretch>
            <a:fillRect/>
          </a:stretch>
        </p:blipFill>
        <p:spPr>
          <a:xfrm>
            <a:off x="4893733" y="4913313"/>
            <a:ext cx="6966337" cy="16989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54283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159E-04FC-CDCD-4E25-7C6D5BB96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FE549A-8941-CC4F-D291-441EFE2A02D9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5A124F-DD16-7805-B281-967D4F2242C3}"/>
              </a:ext>
            </a:extLst>
          </p:cNvPr>
          <p:cNvSpPr txBox="1"/>
          <p:nvPr/>
        </p:nvSpPr>
        <p:spPr>
          <a:xfrm>
            <a:off x="457200" y="852117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-Add to quick access toolbar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3C70A4-B6F7-1977-E03C-B380DECDA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532" y="921914"/>
            <a:ext cx="5040485" cy="582919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0051EF-B075-16F2-F425-29F9D9E741D8}"/>
              </a:ext>
            </a:extLst>
          </p:cNvPr>
          <p:cNvSpPr txBox="1"/>
          <p:nvPr/>
        </p:nvSpPr>
        <p:spPr>
          <a:xfrm>
            <a:off x="330200" y="2237635"/>
            <a:ext cx="4445000" cy="40626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-Styles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Print preview &amp; Print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Insert Caption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Cross-reference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Navigation pane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Open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Clear formatting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Draw text box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>
              <a:solidFill>
                <a:srgbClr val="FF0000"/>
              </a:solidFill>
            </a:endParaRP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5726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0D782-C49E-7177-5452-E09A0A64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B9122C9-7548-67F2-1FFD-AC86CED71366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984DB-0633-050E-DAB2-F71E05A8ADAA}"/>
              </a:ext>
            </a:extLst>
          </p:cNvPr>
          <p:cNvSpPr txBox="1"/>
          <p:nvPr/>
        </p:nvSpPr>
        <p:spPr>
          <a:xfrm>
            <a:off x="626533" y="888246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Margin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Top : 2.5cm, Botton : 2.5cm,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Left: 4cm, Right: 2.5cm</a:t>
            </a:r>
            <a:endParaRPr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8E77F-7EB3-72F1-C3F3-697B26FFD3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904"/>
          <a:stretch>
            <a:fillRect/>
          </a:stretch>
        </p:blipFill>
        <p:spPr>
          <a:xfrm>
            <a:off x="5640802" y="888246"/>
            <a:ext cx="5281197" cy="534038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1D8C07-61B2-92FB-27C3-8B4B188E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422" y="1742008"/>
            <a:ext cx="4180111" cy="4486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453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B739C-DCE5-843D-985A-39D30CA6C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B6FBC55-3080-8F2C-071B-170628D2B05E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34FEA-EBA2-2E66-8740-D99D10918062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1E166-DBF6-4D95-ABF3-5107F21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135" y="969028"/>
            <a:ext cx="6162332" cy="543854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70AB6-EDB6-7FAC-FCA3-73056CAC0482}"/>
              </a:ext>
            </a:extLst>
          </p:cNvPr>
          <p:cNvSpPr txBox="1"/>
          <p:nvPr/>
        </p:nvSpPr>
        <p:spPr>
          <a:xfrm>
            <a:off x="605366" y="2904066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</p:spTree>
    <p:extLst>
      <p:ext uri="{BB962C8B-B14F-4D97-AF65-F5344CB8AC3E}">
        <p14:creationId xmlns:p14="http://schemas.microsoft.com/office/powerpoint/2010/main" val="1138779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4032-0C71-1B47-1B3F-D49B08A6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DEE011E-A2AB-2C4C-A301-4C6166E99D25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449241-FE40-13DB-164D-43A840AFA2D7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CDB78-0F85-07C4-15E0-30C7EDCD039E}"/>
              </a:ext>
            </a:extLst>
          </p:cNvPr>
          <p:cNvSpPr txBox="1"/>
          <p:nvPr/>
        </p:nvSpPr>
        <p:spPr>
          <a:xfrm>
            <a:off x="605366" y="2904066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BC000-8062-8660-5EBB-90333B0D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366" y="1022299"/>
            <a:ext cx="6784446" cy="447142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71341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3B0BF-510E-1A1E-9B3C-7286E3A0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1A16D27-A4C9-17B9-E2F2-894B4728ECCA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CFAE9D-9342-6A1C-B527-679C68A0085C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Mendeley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-Install Mendeley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 Manager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Cite (Microsoft Word)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Web Importer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D6533-A7A8-37EE-7512-2037737E1B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344"/>
          <a:stretch>
            <a:fillRect/>
          </a:stretch>
        </p:blipFill>
        <p:spPr>
          <a:xfrm>
            <a:off x="5172695" y="780069"/>
            <a:ext cx="5546105" cy="39224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F038030-140E-8C21-D52A-C3F99C10C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4747508"/>
            <a:ext cx="12192000" cy="183338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D145A2-4726-AB94-EA5A-3F8D456DB64E}"/>
              </a:ext>
            </a:extLst>
          </p:cNvPr>
          <p:cNvSpPr txBox="1"/>
          <p:nvPr/>
        </p:nvSpPr>
        <p:spPr>
          <a:xfrm>
            <a:off x="91440" y="3968168"/>
            <a:ext cx="4648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800" dirty="0"/>
              <a:t>https://www.mendeley.com/</a:t>
            </a:r>
          </a:p>
        </p:txBody>
      </p:sp>
    </p:spTree>
    <p:extLst>
      <p:ext uri="{BB962C8B-B14F-4D97-AF65-F5344CB8AC3E}">
        <p14:creationId xmlns:p14="http://schemas.microsoft.com/office/powerpoint/2010/main" val="2262897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93582-43E5-5103-F93E-65DD61722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FA2274-F0D2-3472-A558-E0158DD3C60E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251A1-B172-0ECB-1BCD-2091B9471A6B}"/>
              </a:ext>
            </a:extLst>
          </p:cNvPr>
          <p:cNvSpPr txBox="1"/>
          <p:nvPr/>
        </p:nvSpPr>
        <p:spPr>
          <a:xfrm>
            <a:off x="457200" y="852117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99E87D-37CD-DB5A-8AD5-10717BEDC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9" y="3479980"/>
            <a:ext cx="7744764" cy="19167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8F04A4-3115-6CC7-5D47-2000301A8C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4317"/>
          <a:stretch>
            <a:fillRect/>
          </a:stretch>
        </p:blipFill>
        <p:spPr>
          <a:xfrm>
            <a:off x="8945332" y="59850"/>
            <a:ext cx="2687304" cy="342013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738937-4BC7-2AE0-1719-447BE20A2B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425"/>
          <a:stretch>
            <a:fillRect/>
          </a:stretch>
        </p:blipFill>
        <p:spPr>
          <a:xfrm>
            <a:off x="7980132" y="3105148"/>
            <a:ext cx="2687304" cy="36930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109C1CA-CE33-FF50-D883-FE90297511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92" t="9976" r="743" b="20677"/>
          <a:stretch>
            <a:fillRect/>
          </a:stretch>
        </p:blipFill>
        <p:spPr>
          <a:xfrm>
            <a:off x="263751" y="1348133"/>
            <a:ext cx="8335405" cy="172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3050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8F998-66F1-734A-C26B-92427DB0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090662-47D7-46DF-BF7C-6C64341B86F7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C1A8F-7DCB-9E7D-A4E1-EB66BA428414}"/>
              </a:ext>
            </a:extLst>
          </p:cNvPr>
          <p:cNvSpPr txBox="1"/>
          <p:nvPr/>
        </p:nvSpPr>
        <p:spPr>
          <a:xfrm>
            <a:off x="457199" y="852117"/>
            <a:ext cx="6371617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 (APA Style 7</a:t>
            </a:r>
            <a:r>
              <a:rPr lang="en-MY" baseline="30000" dirty="0">
                <a:solidFill>
                  <a:srgbClr val="FF0000"/>
                </a:solidFill>
              </a:rPr>
              <a:t>th</a:t>
            </a:r>
            <a:r>
              <a:rPr lang="en-MY" dirty="0">
                <a:solidFill>
                  <a:srgbClr val="FF0000"/>
                </a:solidFill>
              </a:rPr>
              <a:t>  edition)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501704-3686-D615-A095-2586FE1882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425"/>
          <a:stretch>
            <a:fillRect/>
          </a:stretch>
        </p:blipFill>
        <p:spPr>
          <a:xfrm>
            <a:off x="7865533" y="1441582"/>
            <a:ext cx="3500978" cy="481118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E9693E-1BDB-3353-815B-D869CA67F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287" y="1221449"/>
            <a:ext cx="6107113" cy="512265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0271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rPr dirty="0"/>
              <a:t>PENGURUSAN RUJUKAN AKADEMIK (GAYA APA)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61C1C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MENDELEY REFERENCE MANAGER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Aplikasi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pengurusan</a:t>
            </a:r>
            <a:r>
              <a:rPr sz="1600" dirty="0">
                <a:latin typeface="Georgia" panose="02040502050405020303" pitchFamily="18" charset="0"/>
              </a:rPr>
              <a:t> PDF &amp;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popular.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Mendeley Cite Plugin: Integrasi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MS Word.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Fungsi</a:t>
            </a:r>
            <a:r>
              <a:rPr sz="1600" dirty="0">
                <a:latin typeface="Georgia" panose="02040502050405020303" pitchFamily="18" charset="0"/>
              </a:rPr>
              <a:t> Auto-Citation: </a:t>
            </a:r>
            <a:r>
              <a:rPr sz="1600" dirty="0" err="1">
                <a:latin typeface="Georgia" panose="02040502050405020303" pitchFamily="18" charset="0"/>
              </a:rPr>
              <a:t>Memasukkan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teks</a:t>
            </a:r>
            <a:r>
              <a:rPr sz="1600" dirty="0">
                <a:latin typeface="Georgia" panose="02040502050405020303" pitchFamily="18" charset="0"/>
              </a:rPr>
              <a:t> (In-text citation).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Penjanaan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Bibliografi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: </a:t>
            </a:r>
            <a:r>
              <a:rPr sz="1600" dirty="0" err="1">
                <a:latin typeface="Georgia" panose="02040502050405020303" pitchFamily="18" charset="0"/>
              </a:rPr>
              <a:t>Menjana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mengikut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APA (American Psychological Association) 7th Edition </a:t>
            </a:r>
            <a:r>
              <a:rPr sz="1600" dirty="0" err="1">
                <a:latin typeface="Georgia" panose="02040502050405020303" pitchFamily="18" charset="0"/>
              </a:rPr>
              <a:t>secara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754880" cy="32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5B8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ZOTERO CITATION TOOL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Perisian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percuma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sumber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terbuka</a:t>
            </a:r>
            <a:r>
              <a:rPr sz="1600" dirty="0">
                <a:latin typeface="Georgia" panose="02040502050405020303" pitchFamily="18" charset="0"/>
              </a:rPr>
              <a:t> (Open-Source).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Zotero Connector: </a:t>
            </a:r>
            <a:r>
              <a:rPr sz="1600" dirty="0" err="1">
                <a:latin typeface="Georgia" panose="02040502050405020303" pitchFamily="18" charset="0"/>
              </a:rPr>
              <a:t>Menyimpan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artikel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dari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pelayar</a:t>
            </a:r>
            <a:r>
              <a:rPr sz="1600" dirty="0">
                <a:latin typeface="Georgia" panose="02040502050405020303" pitchFamily="18" charset="0"/>
              </a:rPr>
              <a:t> web (Chrome/Edge).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Sokongan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yang </a:t>
            </a:r>
            <a:r>
              <a:rPr sz="1600" dirty="0" err="1">
                <a:latin typeface="Georgia" panose="02040502050405020303" pitchFamily="18" charset="0"/>
              </a:rPr>
              <a:t>fleksibel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kemaskini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pantas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Mengelakkan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Manual: </a:t>
            </a:r>
            <a:r>
              <a:rPr sz="1600" dirty="0" err="1">
                <a:latin typeface="Georgia" panose="02040502050405020303" pitchFamily="18" charset="0"/>
              </a:rPr>
              <a:t>Menghilangkan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risiko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ejaan</a:t>
            </a:r>
            <a:r>
              <a:rPr sz="1600" dirty="0">
                <a:latin typeface="Georgia" panose="02040502050405020303" pitchFamily="18" charset="0"/>
              </a:rPr>
              <a:t> nama </a:t>
            </a:r>
            <a:r>
              <a:rPr sz="1600" dirty="0" err="1">
                <a:latin typeface="Georgia" panose="02040502050405020303" pitchFamily="18" charset="0"/>
              </a:rPr>
              <a:t>pengarang</a:t>
            </a:r>
            <a:r>
              <a:rPr sz="1600" dirty="0">
                <a:latin typeface="Georgia" panose="02040502050405020303" pitchFamily="18" charset="0"/>
              </a:rPr>
              <a:t> dan </a:t>
            </a:r>
            <a:r>
              <a:rPr sz="1600" dirty="0" err="1">
                <a:latin typeface="Georgia" panose="02040502050405020303" pitchFamily="18" charset="0"/>
              </a:rPr>
              <a:t>tahun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Laporan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616</TotalTime>
  <Words>1899</Words>
  <Application>Microsoft Office PowerPoint</Application>
  <PresentationFormat>Widescreen</PresentationFormat>
  <Paragraphs>218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Georgia</vt:lpstr>
      <vt:lpstr>Roboto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MAHDZIR JAMIAAN</dc:creator>
  <cp:keywords/>
  <dc:description>generated using python-pptx</dc:description>
  <cp:lastModifiedBy>MAHDZIR JAMIAAN</cp:lastModifiedBy>
  <cp:revision>26</cp:revision>
  <dcterms:created xsi:type="dcterms:W3CDTF">2013-01-27T09:14:16Z</dcterms:created>
  <dcterms:modified xsi:type="dcterms:W3CDTF">2026-09-22T12:00:36Z</dcterms:modified>
  <cp:category/>
</cp:coreProperties>
</file>