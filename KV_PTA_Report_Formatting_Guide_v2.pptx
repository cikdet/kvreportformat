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C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00A896"/>
                </a:solidFill>
                <a:latin typeface="Arial"/>
              </a:defRPr>
            </a:pPr>
            <a:r>
              <a:t>KOLEJ VOKASIONAL MALAYSIA</a:t>
            </a:r>
          </a:p>
          <a:p>
            <a:pPr algn="ctr">
              <a:spcBef>
                <a:spcPts val="1200"/>
              </a:spcBef>
              <a:defRPr sz="2800" b="1">
                <a:solidFill>
                  <a:srgbClr val="0F2C59"/>
                </a:solidFill>
                <a:latin typeface="Arial"/>
              </a:defRPr>
            </a:pPr>
            <a:r>
              <a:t>PANDUAN TETAPAN &amp; FORMATTING LAPORAN AKHIR PTA</a:t>
            </a:r>
          </a:p>
          <a:p>
            <a:pPr algn="ctr">
              <a:spcBef>
                <a:spcPts val="1000"/>
              </a:spcBef>
              <a:defRPr sz="1500">
                <a:solidFill>
                  <a:srgbClr val="5A6578"/>
                </a:solidFill>
                <a:latin typeface="Arial"/>
              </a:defRPr>
            </a:pPr>
            <a:r>
              <a:t>Langkah Praktikal Tetapan MS Word, Penomboran Muka Surat, Captions &amp; Pengurusan Rujukan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4389120"/>
            <a:ext cx="6339535" cy="914400"/>
          </a:xfrm>
          <a:prstGeom prst="roundRect">
            <a:avLst/>
          </a:prstGeom>
          <a:solidFill>
            <a:srgbClr val="F4F6F9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D2A44"/>
                </a:solidFill>
              </a:defRPr>
            </a:pPr>
            <a:r>
              <a:t>Panduan Khas Pelajar Diploma Vokasional Malaysia (DVM)</a:t>
            </a:r>
          </a:p>
          <a:p>
            <a:pPr algn="ctr">
              <a:defRPr sz="1100">
                <a:solidFill>
                  <a:srgbClr val="5A6578"/>
                </a:solidFill>
              </a:defRPr>
            </a:pPr>
            <a:r>
              <a:t>Standard Garis Panduan PTA KPM 2023 | Format MS Word &amp; Mendeley/Zotero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KANDUNGAN &amp; HASIL PEMBELAJARAN PANDUAN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68680" y="1508760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Tetapan Asas Dokumen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Margin 4cm/2.5cm, saiz kertas A4 80gsm, jenis Arial 11pt, &amp; langkau 1.5 spacing.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04872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8680" y="2542032"/>
            <a:ext cx="594360" cy="59436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96312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Pengurusan Styles &amp; Headings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Penggunaan Heading 1, Heading 2, &amp; Navigation Pane untuk struktur Bab.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438144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68680" y="3575304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529584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Section Breaks &amp; Nombor Muka Surat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Memisahkan Penomboran Romani (i, ii) Bahagian Awal &amp; Angka (1, 2) Bab Utama.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71416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68680" y="4608576"/>
            <a:ext cx="594360" cy="59436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562856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Captions Automatik &amp; Senarai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Insert Caption untuk Tajuk Jadual/Rajah &amp; penjanaan Isi Kandungan Automatik.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504688"/>
            <a:ext cx="1072865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68680" y="5641848"/>
            <a:ext cx="594360" cy="59436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596128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Pengurusan Rujukan Akademik</a:t>
            </a:r>
          </a:p>
          <a:p>
            <a:pPr>
              <a:defRPr sz="1100">
                <a:solidFill>
                  <a:srgbClr val="5A6578"/>
                </a:solidFill>
              </a:defRPr>
            </a:pPr>
            <a:r>
              <a:t>Integrasi perisian Mendeley &amp; Zotero untuk sitasi automatik gaya APA.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01. TETAPAN ASAS DOKUMEN MS WORD (PAGE SETUP)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0584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t>MARGIN KIRI (RUANG JILID)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t>4.0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t>Wajib untuk ruang penjilidan Hard Cover Biru Gelap.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0" y="173736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182880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t>MARGIN ATAS, BAWAH, KANAN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t>2.5 cm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t>Standard jujukan margin halaman akademik KPM.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00584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429768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t>JENIS &amp; SAIZ TULISAN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t>Arial 11 pt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t>Tulisan rasmi laporan. Langkau 1.5 spacing &amp; Justify.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583680" y="4206240"/>
            <a:ext cx="1097280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4297680"/>
            <a:ext cx="4572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5A6578"/>
                </a:solidFill>
              </a:defRPr>
            </a:pPr>
            <a:r>
              <a:t>SPESIFIKASI KERTAS</a:t>
            </a:r>
          </a:p>
          <a:p>
            <a:pPr>
              <a:spcBef>
                <a:spcPts val="400"/>
              </a:spcBef>
              <a:defRPr sz="2600" b="1">
                <a:solidFill>
                  <a:srgbClr val="0F2C59"/>
                </a:solidFill>
              </a:defRPr>
            </a:pPr>
            <a:r>
              <a:t>A4 80 gsm</a:t>
            </a:r>
          </a:p>
          <a:p>
            <a:pPr>
              <a:spcBef>
                <a:spcPts val="600"/>
              </a:spcBef>
              <a:defRPr sz="1100">
                <a:solidFill>
                  <a:srgbClr val="1D2A44"/>
                </a:solidFill>
              </a:defRPr>
            </a:pPr>
            <a:r>
              <a:t>Warna putih bersih, cetakan sebelah muka surat sahaja.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02. STRUKTUR BAB &amp; SUBTOPIK (STYLES &amp; HEADINGS)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658368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6217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C59"/>
                </a:solidFill>
              </a:defRPr>
            </a:pPr>
            <a:r>
              <a:t>Hierarki Heading MS Word</a:t>
            </a:r>
          </a:p>
          <a:p>
            <a:pPr>
              <a:spcBef>
                <a:spcPts val="1000"/>
              </a:spcBef>
              <a:defRPr sz="1200" b="1">
                <a:solidFill>
                  <a:srgbClr val="00A896"/>
                </a:solidFill>
              </a:defRPr>
            </a:pPr>
            <a:r>
              <a:t>• Heading 1 (Tajuk Bab):</a:t>
            </a:r>
          </a:p>
          <a:p>
            <a:pPr>
              <a:defRPr sz="1100">
                <a:solidFill>
                  <a:srgbClr val="1D2A44"/>
                </a:solidFill>
              </a:defRPr>
            </a:pPr>
            <a:r>
              <a:t>   HURUF BESAR, Bold, Center. Contoh: BAB 1 PENGENALAN</a:t>
            </a:r>
          </a:p>
          <a:p>
            <a:pPr>
              <a:spcBef>
                <a:spcPts val="1000"/>
              </a:spcBef>
              <a:defRPr sz="1200" b="1">
                <a:solidFill>
                  <a:srgbClr val="00A896"/>
                </a:solidFill>
              </a:defRPr>
            </a:pPr>
            <a:r>
              <a:t>• Heading 2 (Subtopik Utama):</a:t>
            </a:r>
          </a:p>
          <a:p>
            <a:pPr>
              <a:defRPr sz="1100">
                <a:solidFill>
                  <a:srgbClr val="1D2A44"/>
                </a:solidFill>
              </a:defRPr>
            </a:pPr>
            <a:r>
              <a:t>   Title Case, Bold, Left. Contoh: 1.1 Latar Belakang Kajian</a:t>
            </a:r>
          </a:p>
          <a:p>
            <a:pPr>
              <a:spcBef>
                <a:spcPts val="1000"/>
              </a:spcBef>
              <a:defRPr sz="1200" b="1">
                <a:solidFill>
                  <a:srgbClr val="00A896"/>
                </a:solidFill>
              </a:defRPr>
            </a:pPr>
            <a:r>
              <a:t>• Heading 3 (Sub-subtopik):</a:t>
            </a:r>
          </a:p>
          <a:p>
            <a:pPr>
              <a:defRPr sz="1100">
                <a:solidFill>
                  <a:srgbClr val="1D2A44"/>
                </a:solidFill>
              </a:defRPr>
            </a:pPr>
            <a:r>
              <a:t>   Title Case, Bold, Left. Contoh: 1.1.1 Pernyataan Masalah</a:t>
            </a:r>
          </a:p>
          <a:p>
            <a:pPr>
              <a:spcBef>
                <a:spcPts val="1000"/>
              </a:spcBef>
              <a:defRPr sz="1200" b="1">
                <a:solidFill>
                  <a:srgbClr val="00A896"/>
                </a:solidFill>
              </a:defRPr>
            </a:pPr>
            <a:r>
              <a:t>• Body Text (Normal Style):</a:t>
            </a:r>
          </a:p>
          <a:p>
            <a:pPr>
              <a:defRPr sz="1100">
                <a:solidFill>
                  <a:srgbClr val="1D2A44"/>
                </a:solidFill>
              </a:defRPr>
            </a:pPr>
            <a:r>
              <a:t>   Arial 11pt, 1.5 spacing, Justify alignment.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371600"/>
            <a:ext cx="3840480" cy="475488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0" y="16459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76F51"/>
                </a:solidFill>
              </a:defRPr>
            </a:pPr>
            <a:r>
              <a:t>💡 MANFAAT NAVIGATION PANE</a:t>
            </a:r>
          </a:p>
          <a:p>
            <a:pPr>
              <a:spcBef>
                <a:spcPts val="1000"/>
              </a:spcBef>
              <a:defRPr sz="1200" b="1">
                <a:solidFill>
                  <a:srgbClr val="FFFFFF"/>
                </a:solidFill>
              </a:defRPr>
            </a:pPr>
            <a:r>
              <a:t>✔ Semakan Struktur Semasa Penulisan:</a:t>
            </a:r>
          </a:p>
          <a:p>
            <a:pPr>
              <a:defRPr sz="1100">
                <a:solidFill>
                  <a:srgbClr val="DFE7F2"/>
                </a:solidFill>
              </a:defRPr>
            </a:pPr>
            <a:r>
              <a:t>Tekan Ctrl + F dan pilih tab 'Headings' dalam Navigation Pane.</a:t>
            </a:r>
          </a:p>
          <a:p>
            <a:pPr>
              <a:spcBef>
                <a:spcPts val="1000"/>
              </a:spcBef>
              <a:defRPr sz="1200" b="1">
                <a:solidFill>
                  <a:srgbClr val="FFFFFF"/>
                </a:solidFill>
              </a:defRPr>
            </a:pPr>
            <a:r>
              <a:t>✔ Menyusun Semula Bab:</a:t>
            </a:r>
          </a:p>
          <a:p>
            <a:pPr>
              <a:defRPr sz="1100">
                <a:solidFill>
                  <a:srgbClr val="DFE7F2"/>
                </a:solidFill>
              </a:defRPr>
            </a:pPr>
            <a:r>
              <a:t>Boleh 'drag &amp; drop' terus tajuk bab untuk menyusun semula halaman.</a:t>
            </a:r>
          </a:p>
          <a:p>
            <a:pPr>
              <a:spcBef>
                <a:spcPts val="1000"/>
              </a:spcBef>
              <a:defRPr sz="1200" b="1">
                <a:solidFill>
                  <a:srgbClr val="FFFFFF"/>
                </a:solidFill>
              </a:defRPr>
            </a:pPr>
            <a:r>
              <a:t>✔ Syarat Isi Kandungan Automatik:</a:t>
            </a:r>
          </a:p>
          <a:p>
            <a:pPr>
              <a:defRPr sz="1100">
                <a:solidFill>
                  <a:srgbClr val="DFE7F2"/>
                </a:solidFill>
              </a:defRPr>
            </a:pPr>
            <a:r>
              <a:t>Hanya teks yang ditetapkan sebagai Heading akan muncul dalam Table of Contents (TOC).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03. PENOMBORAN MUKA SURAT &amp; SECTION BREAKS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1645920"/>
            <a:ext cx="1645920" cy="41148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LANGKAH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2962656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Guna Section Break (Next Page)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t>Pisahkan Bahagian Awal (Muka Dalam, Abstrak) dengan Bab Utama (Bab 1) menggunakan Layout -&gt; Breaks -&gt; Section Breaks (Next Page).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608576" y="1645920"/>
            <a:ext cx="1645920" cy="41148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LANGKAH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194560"/>
            <a:ext cx="2962656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Nyahaktifkan 'Link to Previous'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t>Pada Header &amp; Footer Bab 1, tekan butang 'Link to Previous' untuk memutuskan hubungan format dengan bahagian awal.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302752" y="1645920"/>
            <a:ext cx="1645920" cy="41148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LANGKAH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194560"/>
            <a:ext cx="2962656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Format Nombor Muka Surat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t>• Bahagian Awal: Format 'i, ii, iii' di penjuru bawah kanan.</a:t>
            </a:r>
            <a:br/>
            <a:r>
              <a:t>• Bab Utama: Format '1, 2, 3' bermula dari muka surat 1 di Bab 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04. CAPTIONS AUTOMATIK JADUAL, RAJAH &amp; ISI KANDUNGAN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TAJUK JADUAL (TABLE CAPTION)</a:t>
            </a:r>
          </a:p>
          <a:p>
            <a:pPr>
              <a:spcBef>
                <a:spcPts val="400"/>
              </a:spcBef>
              <a:defRPr sz="1100" b="1">
                <a:solidFill>
                  <a:srgbClr val="00A896"/>
                </a:solidFill>
              </a:defRPr>
            </a:pPr>
            <a:r>
              <a:t>📍 Kedudukan: Di atas Jadual (Above Selected Item)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Guna fungsi 'References -&gt; Insert Caption'.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Pilih Label 'Jadual' (Contoh: Jadual 1.1).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Kedudukan tajuk wajib di atas jadual.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Langkau 1.0 (single spacing) bagi kandungan dalam jadual.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155448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C59"/>
                </a:solidFill>
              </a:defRPr>
            </a:pPr>
            <a:r>
              <a:t>TAJUK RAJAH (FIGURE CAPTION)</a:t>
            </a:r>
          </a:p>
          <a:p>
            <a:pPr>
              <a:spcBef>
                <a:spcPts val="400"/>
              </a:spcBef>
              <a:defRPr sz="1100" b="1">
                <a:solidFill>
                  <a:srgbClr val="00A896"/>
                </a:solidFill>
              </a:defRPr>
            </a:pPr>
            <a:r>
              <a:t>📍 Kedudukan: Di bawah Rajah (Below Selected Item)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Guna fungsi 'References -&gt; Insert Caption'.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Pilih Label 'Rajah' (Contoh: Rajah 2.1).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Kedudukan tajuk wajib di bawah rajah.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Pastikan rajah berpusat (Center alignment).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46320"/>
            <a:ext cx="10728655" cy="1280160"/>
          </a:xfrm>
          <a:prstGeom prst="round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76F51"/>
                </a:solidFill>
              </a:defRPr>
            </a:pPr>
            <a:r>
              <a:t>⚡ AUTOMATION: SENARAI ISI KANDUNGAN, JADUAL &amp; RAJAH</a:t>
            </a:r>
          </a:p>
          <a:p>
            <a:pPr>
              <a:spcBef>
                <a:spcPts val="400"/>
              </a:spcBef>
              <a:defRPr sz="1100">
                <a:solidFill>
                  <a:srgbClr val="FFFFFF"/>
                </a:solidFill>
              </a:defRPr>
            </a:pPr>
            <a:r>
              <a:t>Dengan menetapkan Headings &amp; Captions secara automatik, pelajar boleh menjana 'Table of Contents', 'List of Tables', dan 'List of Figures' secara automatik hanya dengan 1-Klik melalui tab References -&gt; Table of Contents!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05. PENGURUSAN RUJUKAN AKADEMIK (GAYA APA)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61C1C"/>
                </a:solidFill>
              </a:defRPr>
            </a:pPr>
            <a:r>
              <a:t>MENDELEY REFERENCE MANAGER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t>✔ Aplikasi pengurusan PDF &amp; rujukan popular.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t>✔ Mendeley Cite Plugin: Integrasi terus dalam MS Word.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t>✔ Fungsi Auto-Citation: Memasukkan sitasi dalam teks (In-text citation).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t>✔ Penjanaan Bibliografi Automatik: Menjana senarai rujukan mengikut gaya APA (American Psychological Association) 7th Edition secara automatik.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B5B84"/>
                </a:solidFill>
              </a:defRPr>
            </a:pPr>
            <a:r>
              <a:t>ZOTERO CITATION TOOL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t>✔ Perisian percuma &amp; sumber terbuka (Open-Source).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t>✔ Zotero Connector: Menyimpan artikel terus dari pelayar web (Chrome/Edge).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t>✔ Sokongan gaya sitasi yang fleksibel &amp; kemaskini pantas.</a:t>
            </a:r>
          </a:p>
          <a:p>
            <a:pPr>
              <a:spcBef>
                <a:spcPts val="800"/>
              </a:spcBef>
              <a:defRPr sz="1100">
                <a:solidFill>
                  <a:srgbClr val="1D2A44"/>
                </a:solidFill>
              </a:defRPr>
            </a:pPr>
            <a:r>
              <a:t>✔ Mengelakkan Kesilapan Manual: Menghilangkan risiko kesilapan ejaan nama pengarang dan tahun dalam Senarai Rujukan Laporan.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A896"/>
                </a:solidFill>
                <a:latin typeface="Arial"/>
              </a:defRPr>
            </a:pPr>
            <a:r>
              <a:t>PANDUAN FORMAT REPORT PTA DVM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C59"/>
                </a:solidFill>
                <a:latin typeface="Arial"/>
              </a:defRPr>
            </a:pPr>
            <a:r>
              <a:t>SENARAI SEMAK AKHIR FORMATTING LAPORAN PTA</a:t>
            </a:r>
          </a:p>
        </p:txBody>
      </p:sp>
      <p:sp>
        <p:nvSpPr>
          <p:cNvPr id="6" name="Right Triangle 5"/>
          <p:cNvSpPr/>
          <p:nvPr/>
        </p:nvSpPr>
        <p:spPr>
          <a:xfrm rot="10800000">
            <a:off x="11277295" y="0"/>
            <a:ext cx="914400" cy="1005840"/>
          </a:xfrm>
          <a:prstGeom prst="rtTriangle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1691640"/>
            <a:ext cx="411480" cy="41148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64592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C59"/>
                </a:solidFill>
              </a:defRPr>
            </a:pPr>
            <a:r>
              <a:t>MARGIN &amp; KERTAS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Margin Kiri 4.0 cm (Jilid)</a:t>
            </a:r>
            <a:br/>
            <a:r>
              <a:t>• Margin Atas/Bawah/Kanan 2.5 cm</a:t>
            </a:r>
            <a:br/>
            <a:r>
              <a:t>• Kertas A4 80gsm Putih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92240" y="1691640"/>
            <a:ext cx="411480" cy="41148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64592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C59"/>
                </a:solidFill>
              </a:defRPr>
            </a:pPr>
            <a:r>
              <a:t>TULISAN &amp; SPACING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Jenis Arial, Saiz 11 pt</a:t>
            </a:r>
            <a:br/>
            <a:r>
              <a:t>• Langkau 1.5 spacing, Justify</a:t>
            </a:r>
            <a:br/>
            <a:r>
              <a:t>• Subtopik disemak dalam Navigation Pane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14400" y="4160520"/>
            <a:ext cx="411480" cy="41148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C59"/>
                </a:solidFill>
              </a:defRPr>
            </a:pPr>
            <a:r>
              <a:t>PENOMBORAN MUKA SURAT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Bahagian Awal: Roman (i, ii, iii)</a:t>
            </a:r>
            <a:br/>
            <a:r>
              <a:t>• Bab Utama: Angka (1, 2, 3) di Bab 1</a:t>
            </a:r>
            <a:br/>
            <a:r>
              <a:t>• Unlink 'Link to Previous' disemak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31920"/>
            <a:ext cx="512064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92240" y="4160520"/>
            <a:ext cx="411480" cy="411480"/>
          </a:xfrm>
          <a:prstGeom prst="roundRect">
            <a:avLst/>
          </a:prstGeom>
          <a:solidFill>
            <a:srgbClr val="00A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11480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C59"/>
                </a:solidFill>
              </a:defRPr>
            </a:pPr>
            <a:r>
              <a:t>CAPTIONS &amp; RUJUKAN</a:t>
            </a:r>
          </a:p>
          <a:p>
            <a:pPr>
              <a:spcBef>
                <a:spcPts val="400"/>
              </a:spcBef>
              <a:defRPr sz="1100">
                <a:solidFill>
                  <a:srgbClr val="1D2A44"/>
                </a:solidFill>
              </a:defRPr>
            </a:pPr>
            <a:r>
              <a:t>• Tajuk Jadual di atas, Rajah di bawah</a:t>
            </a:r>
            <a:br/>
            <a:r>
              <a:t>• Table of Contents automatik</a:t>
            </a:r>
            <a:br/>
            <a:r>
              <a:t>• Sitasi &amp; Rujukan APA guna Mendeley/Zotero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945</Words>
  <Application>Microsoft Office PowerPoint</Application>
  <PresentationFormat>Widescreen</PresentationFormat>
  <Paragraphs>107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MAHDZIR JAMIAAN</dc:creator>
  <cp:keywords/>
  <dc:description>generated using python-pptx</dc:description>
  <cp:lastModifiedBy>MAHDZIR JAMIAAN</cp:lastModifiedBy>
  <cp:revision>1</cp:revision>
  <dcterms:created xsi:type="dcterms:W3CDTF">2013-01-27T09:14:16Z</dcterms:created>
  <dcterms:modified xsi:type="dcterms:W3CDTF">2026-09-22T03:38:57Z</dcterms:modified>
  <cp:category/>
</cp:coreProperties>
</file>