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A896"/>
                </a:solidFill>
                <a:latin typeface="Arial"/>
              </a:defRPr>
            </a:pPr>
            <a:r>
              <a:t>KOLEJ VOKASIONAL MALAYSIA</a:t>
            </a:r>
          </a:p>
          <a:p>
            <a:pPr algn="ctr">
              <a:spcBef>
                <a:spcPts val="1200"/>
              </a:spcBef>
              <a:defRPr sz="2800" b="1">
                <a:solidFill>
                  <a:srgbClr val="0F2C59"/>
                </a:solidFill>
                <a:latin typeface="Arial"/>
              </a:defRPr>
            </a:pPr>
            <a:r>
              <a:t>PANDUAN TETAPAN &amp; FORMATTING LAPORAN AKHIR PTA</a:t>
            </a:r>
          </a:p>
          <a:p>
            <a:pPr algn="ctr">
              <a:spcBef>
                <a:spcPts val="1000"/>
              </a:spcBef>
              <a:defRPr sz="1500">
                <a:solidFill>
                  <a:srgbClr val="5A6578"/>
                </a:solidFill>
                <a:latin typeface="Arial"/>
              </a:defRPr>
            </a:pPr>
            <a:r>
              <a:t>Langkah Praktikal Tetapan MS Word, Penomboran Muka Surat, Captions &amp; Pengurusan Rujukan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4389120"/>
            <a:ext cx="6339535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D2A44"/>
                </a:solidFill>
              </a:defRPr>
            </a:pPr>
            <a:r>
              <a:t>Panduan Khas Pelajar Diploma Vokasional Malaysia (DVM)</a:t>
            </a:r>
          </a:p>
          <a:p>
            <a:pPr algn="ctr">
              <a:defRPr sz="1100">
                <a:solidFill>
                  <a:srgbClr val="5A6578"/>
                </a:solidFill>
              </a:defRPr>
            </a:pPr>
            <a:r>
              <a:t>Standard Garis Panduan PTA KPM 2023 | Format MS Word &amp; Mendeley/Zotero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KANDUNGAN &amp; HASIL PEMBELAJARAN PANDUAN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59436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Tetapan Asas Dokumen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Margin 4cm/2.5cm, saiz kertas A4 80gsm, jenis Arial 11pt, &amp; langkau 1.5 spacing.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04872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542032"/>
            <a:ext cx="594360" cy="59436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96312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Pengurusan Styles &amp; Headings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Penggunaan Heading 1, Heading 2, &amp; Navigation Pane untuk struktur Bab.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38144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3575304"/>
            <a:ext cx="59436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29584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Section Breaks &amp; Nombor Muka Surat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Memisahkan Penomboran Romani (i, ii) Bahagian Awal &amp; Angka (1, 2) Bab Utama.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71416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4608576"/>
            <a:ext cx="594360" cy="59436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62856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Captions Automatik &amp; Senarai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Insert Caption untuk Tajuk Jadual/Rajah &amp; penjanaan Isi Kandungan Automatik.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04688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5641848"/>
            <a:ext cx="59436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5961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Pengurusan Rujukan Akademik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Integrasi perisian Mendeley &amp; Zotero untuk sitasi automatik gaya APA.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01. TETAPAN ASAS DOKUMEN MS WORD (PAGE SETUP)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1737360"/>
            <a:ext cx="1097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A6578"/>
                </a:solidFill>
              </a:defRPr>
            </a:pPr>
            <a:r>
              <a:t>MARGIN KIRI (RUANG JILID)</a:t>
            </a:r>
          </a:p>
          <a:p>
            <a:pPr>
              <a:spcBef>
                <a:spcPts val="400"/>
              </a:spcBef>
              <a:defRPr sz="2600" b="1">
                <a:solidFill>
                  <a:srgbClr val="0F2C59"/>
                </a:solidFill>
              </a:defRPr>
            </a:pPr>
            <a:r>
              <a:t>4.0 cm</a:t>
            </a:r>
          </a:p>
          <a:p>
            <a:pPr>
              <a:spcBef>
                <a:spcPts val="600"/>
              </a:spcBef>
              <a:defRPr sz="1100">
                <a:solidFill>
                  <a:srgbClr val="1D2A44"/>
                </a:solidFill>
              </a:defRPr>
            </a:pPr>
            <a:r>
              <a:t>Wajib untuk ruang penjilidan Hard Cover Biru Gelap.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737360"/>
            <a:ext cx="1097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A6578"/>
                </a:solidFill>
              </a:defRPr>
            </a:pPr>
            <a:r>
              <a:t>MARGIN ATAS, BAWAH, KANAN</a:t>
            </a:r>
          </a:p>
          <a:p>
            <a:pPr>
              <a:spcBef>
                <a:spcPts val="400"/>
              </a:spcBef>
              <a:defRPr sz="2600" b="1">
                <a:solidFill>
                  <a:srgbClr val="0F2C59"/>
                </a:solidFill>
              </a:defRPr>
            </a:pPr>
            <a:r>
              <a:t>2.5 cm</a:t>
            </a:r>
          </a:p>
          <a:p>
            <a:pPr>
              <a:spcBef>
                <a:spcPts val="600"/>
              </a:spcBef>
              <a:defRPr sz="1100">
                <a:solidFill>
                  <a:srgbClr val="1D2A44"/>
                </a:solidFill>
              </a:defRPr>
            </a:pPr>
            <a:r>
              <a:t>Standard jujukan margin halaman akademik KPM.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" y="4206240"/>
            <a:ext cx="1097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A6578"/>
                </a:solidFill>
              </a:defRPr>
            </a:pPr>
            <a:r>
              <a:t>JENIS &amp; SAIZ TULISAN</a:t>
            </a:r>
          </a:p>
          <a:p>
            <a:pPr>
              <a:spcBef>
                <a:spcPts val="400"/>
              </a:spcBef>
              <a:defRPr sz="2600" b="1">
                <a:solidFill>
                  <a:srgbClr val="0F2C59"/>
                </a:solidFill>
              </a:defRPr>
            </a:pPr>
            <a:r>
              <a:t>Arial 11 pt</a:t>
            </a:r>
          </a:p>
          <a:p>
            <a:pPr>
              <a:spcBef>
                <a:spcPts val="600"/>
              </a:spcBef>
              <a:defRPr sz="1100">
                <a:solidFill>
                  <a:srgbClr val="1D2A44"/>
                </a:solidFill>
              </a:defRPr>
            </a:pPr>
            <a:r>
              <a:t>Tulisan rasmi laporan. Langkau 1.5 spacing &amp; Justify.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4206240"/>
            <a:ext cx="1097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A6578"/>
                </a:solidFill>
              </a:defRPr>
            </a:pPr>
            <a:r>
              <a:t>SPESIFIKASI KERTAS</a:t>
            </a:r>
          </a:p>
          <a:p>
            <a:pPr>
              <a:spcBef>
                <a:spcPts val="400"/>
              </a:spcBef>
              <a:defRPr sz="2600" b="1">
                <a:solidFill>
                  <a:srgbClr val="0F2C59"/>
                </a:solidFill>
              </a:defRPr>
            </a:pPr>
            <a:r>
              <a:t>A4 80 gsm</a:t>
            </a:r>
          </a:p>
          <a:p>
            <a:pPr>
              <a:spcBef>
                <a:spcPts val="600"/>
              </a:spcBef>
              <a:defRPr sz="1100">
                <a:solidFill>
                  <a:srgbClr val="1D2A44"/>
                </a:solidFill>
              </a:defRPr>
            </a:pPr>
            <a:r>
              <a:t>Warna putih bersih, cetakan sebelah muka surat sahaja.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02. STRUKTUR BAB &amp; SUBTOPIK (STYLES &amp; HEADINGS)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583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C59"/>
                </a:solidFill>
              </a:defRPr>
            </a:pPr>
            <a:r>
              <a:t>Hierarki Heading MS Word</a:t>
            </a:r>
          </a:p>
          <a:p>
            <a:pPr>
              <a:spcBef>
                <a:spcPts val="1000"/>
              </a:spcBef>
              <a:defRPr sz="1200" b="1">
                <a:solidFill>
                  <a:srgbClr val="00A896"/>
                </a:solidFill>
              </a:defRPr>
            </a:pPr>
            <a:r>
              <a:t>• Heading 1 (Tajuk Bab):</a:t>
            </a:r>
          </a:p>
          <a:p>
            <a:pPr>
              <a:defRPr sz="1100">
                <a:solidFill>
                  <a:srgbClr val="1D2A44"/>
                </a:solidFill>
              </a:defRPr>
            </a:pPr>
            <a:r>
              <a:t>   HURUF BESAR, Bold, Center. Contoh: BAB 1 PENGENALAN</a:t>
            </a:r>
          </a:p>
          <a:p>
            <a:pPr>
              <a:spcBef>
                <a:spcPts val="1000"/>
              </a:spcBef>
              <a:defRPr sz="1200" b="1">
                <a:solidFill>
                  <a:srgbClr val="00A896"/>
                </a:solidFill>
              </a:defRPr>
            </a:pPr>
            <a:r>
              <a:t>• Heading 2 (Subtopik Utama):</a:t>
            </a:r>
          </a:p>
          <a:p>
            <a:pPr>
              <a:defRPr sz="1100">
                <a:solidFill>
                  <a:srgbClr val="1D2A44"/>
                </a:solidFill>
              </a:defRPr>
            </a:pPr>
            <a:r>
              <a:t>   Title Case, Bold, Left. Contoh: 1.1 Latar Belakang Kajian</a:t>
            </a:r>
          </a:p>
          <a:p>
            <a:pPr>
              <a:spcBef>
                <a:spcPts val="1000"/>
              </a:spcBef>
              <a:defRPr sz="1200" b="1">
                <a:solidFill>
                  <a:srgbClr val="00A896"/>
                </a:solidFill>
              </a:defRPr>
            </a:pPr>
            <a:r>
              <a:t>• Heading 3 (Sub-subtopik):</a:t>
            </a:r>
          </a:p>
          <a:p>
            <a:pPr>
              <a:defRPr sz="1100">
                <a:solidFill>
                  <a:srgbClr val="1D2A44"/>
                </a:solidFill>
              </a:defRPr>
            </a:pPr>
            <a:r>
              <a:t>   Title Case, Bold, Left. Contoh: 1.1.1 Pernyataan Masalah</a:t>
            </a:r>
          </a:p>
          <a:p>
            <a:pPr>
              <a:spcBef>
                <a:spcPts val="1000"/>
              </a:spcBef>
              <a:defRPr sz="1200" b="1">
                <a:solidFill>
                  <a:srgbClr val="00A896"/>
                </a:solidFill>
              </a:defRPr>
            </a:pPr>
            <a:r>
              <a:t>• Body Text (Normal Style):</a:t>
            </a:r>
          </a:p>
          <a:p>
            <a:pPr>
              <a:defRPr sz="1100">
                <a:solidFill>
                  <a:srgbClr val="1D2A44"/>
                </a:solidFill>
              </a:defRPr>
            </a:pPr>
            <a:r>
              <a:t>   Arial 11pt, 1.5 spacing, Justify alignment.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3840480" cy="475488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64592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76F51"/>
                </a:solidFill>
              </a:defRPr>
            </a:pPr>
            <a:r>
              <a:t>💡 MANFAAT NAVIGATION PANE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✔ Semakan Struktur Semasa Penulisan:</a:t>
            </a:r>
          </a:p>
          <a:p>
            <a:pPr>
              <a:defRPr sz="1100">
                <a:solidFill>
                  <a:srgbClr val="DFE7F2"/>
                </a:solidFill>
              </a:defRPr>
            </a:pPr>
            <a:r>
              <a:t>Tekan Ctrl + F dan pilih tab 'Headings' dalam Navigation Pane.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✔ Menyusun Semula Bab:</a:t>
            </a:r>
          </a:p>
          <a:p>
            <a:pPr>
              <a:defRPr sz="1100">
                <a:solidFill>
                  <a:srgbClr val="DFE7F2"/>
                </a:solidFill>
              </a:defRPr>
            </a:pPr>
            <a:r>
              <a:t>Boleh 'drag &amp; drop' terus tajuk bab untuk menyusun semula halaman.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✔ Syarat Isi Kandungan Automatik:</a:t>
            </a:r>
          </a:p>
          <a:p>
            <a:pPr>
              <a:defRPr sz="1100">
                <a:solidFill>
                  <a:srgbClr val="DFE7F2"/>
                </a:solidFill>
              </a:defRPr>
            </a:pPr>
            <a:r>
              <a:t>Hanya teks yang ditetapkan sebagai Heading akan muncul dalam Table of Contents (TOC).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03. PENOMBORAN MUKA SURAT &amp; SECTION BREAKS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1645920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LANGKAH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Guna Section Break (Next Page)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Pisahkan Bahagian Awal (Muka Dalam, Abstrak) dengan Bab Utama (Bab 1) menggunakan Layout -&gt; Breaks -&gt; Section Breaks (Next Page).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08576" y="1645920"/>
            <a:ext cx="1645920" cy="41148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LANGKAH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9456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Nyahaktifkan 'Link to Previous'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Pada Header &amp; Footer Bab 1, tekan butang 'Link to Previous' untuk memutuskan hubungan format dengan bahagian awal.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1645920"/>
            <a:ext cx="1645920" cy="4114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LANGKAH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9456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Format Nombor Muka Surat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• Bahagian Awal: Format 'i, ii, iii' di penjuru bawah kanan.</a:t>
            </a:r>
            <a:br/>
            <a:r>
              <a:t>• Bab Utama: Format '1, 2, 3' bermula dari muka surat 1 di Bab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04. CAPTIONS AUTOMATIK JADUAL, RAJAH &amp; ISI KANDUNGAN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TAJUK JADUAL (TABLE CAPTION)</a:t>
            </a:r>
          </a:p>
          <a:p>
            <a:pPr>
              <a:spcBef>
                <a:spcPts val="400"/>
              </a:spcBef>
              <a:defRPr sz="1100" b="1">
                <a:solidFill>
                  <a:srgbClr val="00A896"/>
                </a:solidFill>
              </a:defRPr>
            </a:pPr>
            <a:r>
              <a:t>📍 Kedudukan: Di atas Jadual (Above Selected Item)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Guna fungsi 'References -&gt; Insert Caption'.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Pilih Label 'Jadual' (Contoh: Jadual 1.1).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Kedudukan tajuk wajib di atas jadual.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Langkau 1.0 (single spacing) bagi kandungan dalam jadual.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TAJUK RAJAH (FIGURE CAPTION)</a:t>
            </a:r>
          </a:p>
          <a:p>
            <a:pPr>
              <a:spcBef>
                <a:spcPts val="400"/>
              </a:spcBef>
              <a:defRPr sz="1100" b="1">
                <a:solidFill>
                  <a:srgbClr val="00A896"/>
                </a:solidFill>
              </a:defRPr>
            </a:pPr>
            <a:r>
              <a:t>📍 Kedudukan: Di bawah Rajah (Below Selected Item)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Guna fungsi 'References -&gt; Insert Caption'.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Pilih Label 'Rajah' (Contoh: Rajah 2.1).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Kedudukan tajuk wajib di bawah rajah.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Pastikan rajah berpusat (Center alignment).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6F51"/>
                </a:solidFill>
              </a:defRPr>
            </a:pPr>
            <a:r>
              <a:t>⚡ AUTOMATION: SENARAI ISI KANDUNGAN, JADUAL &amp; RAJAH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Dengan menetapkan Headings &amp; Captions secara automatik, pelajar boleh menjana 'Table of Contents', 'List of Tables', dan 'List of Figures' secara automatik hanya dengan 1-Klik melalui tab References -&gt; Table of Contents!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05. PENGURUSAN RUJUKAN AKADEMIK (GAYA APA)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61C1C"/>
                </a:solidFill>
              </a:defRPr>
            </a:pPr>
            <a:r>
              <a:t>MENDELEY REFERENCE MANAGER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Aplikasi pengurusan PDF &amp; rujukan popular.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Mendeley Cite Plugin: Integrasi terus dalam MS Word.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Fungsi Auto-Citation: Memasukkan sitasi dalam teks (In-text citation).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Penjanaan Bibliografi Automatik: Menjana senarai rujukan mengikut gaya APA (American Psychological Association) 7th Edition secara automatik.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5B84"/>
                </a:solidFill>
              </a:defRPr>
            </a:pPr>
            <a:r>
              <a:t>ZOTERO CITATION TOOL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Perisian percuma &amp; sumber terbuka (Open-Source).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Zotero Connector: Menyimpan artikel terus dari pelayar web (Chrome/Edge).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Sokongan gaya sitasi yang fleksibel &amp; kemaskini pantas.</a:t>
            </a:r>
          </a:p>
          <a:p>
            <a:pPr>
              <a:spcBef>
                <a:spcPts val="800"/>
              </a:spcBef>
              <a:defRPr sz="1100">
                <a:solidFill>
                  <a:srgbClr val="1D2A44"/>
                </a:solidFill>
              </a:defRPr>
            </a:pPr>
            <a:r>
              <a:t>✔ Mengelakkan Kesilapan Manual: Menghilangkan risiko kesilapan ejaan nama pengarang dan tahun dalam Senarai Rujukan Laporan.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SENARAI SEMAK AKHIR FORMATTING LAPORAN PTA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411480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</a:defRPr>
            </a:pPr>
            <a:r>
              <a:t>MARGIN &amp; KERTAS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Margin Kiri 4.0 cm (Jilid)</a:t>
            </a:r>
            <a:br/>
            <a:r>
              <a:t>• Margin Atas/Bawah/Kanan 2.5 cm</a:t>
            </a:r>
            <a:br/>
            <a:r>
              <a:t>• Kertas A4 80gsm Putih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411480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459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</a:defRPr>
            </a:pPr>
            <a:r>
              <a:t>TULISAN &amp; SPACING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Jenis Arial, Saiz 11 pt</a:t>
            </a:r>
            <a:br/>
            <a:r>
              <a:t>• Langkau 1.5 spacing, Justify</a:t>
            </a:r>
            <a:br/>
            <a:r>
              <a:t>• Subtopik disemak dalam Navigation Pane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411480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148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</a:defRPr>
            </a:pPr>
            <a:r>
              <a:t>PENOMBORAN MUKA SURAT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Bahagian Awal: Roman (i, ii, iii)</a:t>
            </a:r>
            <a:br/>
            <a:r>
              <a:t>• Bab Utama: Angka (1, 2, 3) di Bab 1</a:t>
            </a:r>
            <a:br/>
            <a:r>
              <a:t>• Unlink 'Link to Previous' disemak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2240" y="4160520"/>
            <a:ext cx="411480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1148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</a:defRPr>
            </a:pPr>
            <a:r>
              <a:t>CAPTIONS &amp; RUJUKAN</a:t>
            </a:r>
          </a:p>
          <a:p>
            <a:pPr>
              <a:spcBef>
                <a:spcPts val="400"/>
              </a:spcBef>
              <a:defRPr sz="1100">
                <a:solidFill>
                  <a:srgbClr val="1D2A44"/>
                </a:solidFill>
              </a:defRPr>
            </a:pPr>
            <a:r>
              <a:t>• Tajuk Jadual di atas, Rajah di bawah</a:t>
            </a:r>
            <a:br/>
            <a:r>
              <a:t>• Table of Contents automatik</a:t>
            </a:r>
            <a:br/>
            <a:r>
              <a:t>• Sitasi &amp; Rujukan APA guna Mendeley/Zotero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945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MAHDZIR JAMIAAN</dc:creator>
  <cp:keywords/>
  <dc:description>generated using python-pptx</dc:description>
  <cp:lastModifiedBy>MAHDZIR JAMIAAN</cp:lastModifiedBy>
  <cp:revision>2</cp:revision>
  <dcterms:created xsi:type="dcterms:W3CDTF">2013-01-27T09:14:16Z</dcterms:created>
  <dcterms:modified xsi:type="dcterms:W3CDTF">2026-09-22T12:00:32Z</dcterms:modified>
  <cp:category/>
</cp:coreProperties>
</file>